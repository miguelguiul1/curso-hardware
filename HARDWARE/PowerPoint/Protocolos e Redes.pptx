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8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4C8645-39AD-4A5E-98C8-943CA62FAE7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D561937-B9DF-4604-A92F-E2EC6E38D43B}">
      <dgm:prSet phldrT="[Texto]" custT="1"/>
      <dgm:spPr/>
      <dgm:t>
        <a:bodyPr/>
        <a:lstStyle/>
        <a:p>
          <a:pPr>
            <a:buNone/>
          </a:pPr>
          <a:r>
            <a:rPr lang="pt-BR" sz="2400" b="1" dirty="0">
              <a:solidFill>
                <a:schemeClr val="bg1"/>
              </a:solidFill>
            </a:rPr>
            <a:t>HTTP</a:t>
          </a:r>
        </a:p>
        <a:p>
          <a:pPr>
            <a:buNone/>
          </a:pPr>
          <a:r>
            <a:rPr lang="pt-BR" sz="1800" dirty="0">
              <a:solidFill>
                <a:srgbClr val="002060"/>
              </a:solidFill>
            </a:rPr>
            <a:t>Transmite páginas web entre navegador e servidor.</a:t>
          </a:r>
        </a:p>
      </dgm:t>
    </dgm:pt>
    <dgm:pt modelId="{0E8E02DC-6EFE-4195-88A1-9212E289EC04}" type="parTrans" cxnId="{0D33D387-54B2-41DD-B943-0542C5854B89}">
      <dgm:prSet/>
      <dgm:spPr/>
      <dgm:t>
        <a:bodyPr/>
        <a:lstStyle/>
        <a:p>
          <a:endParaRPr lang="pt-BR"/>
        </a:p>
      </dgm:t>
    </dgm:pt>
    <dgm:pt modelId="{A78157B4-83E1-4C55-89D0-8F3F85F23870}" type="sibTrans" cxnId="{0D33D387-54B2-41DD-B943-0542C5854B89}">
      <dgm:prSet/>
      <dgm:spPr/>
      <dgm:t>
        <a:bodyPr/>
        <a:lstStyle/>
        <a:p>
          <a:endParaRPr lang="pt-BR"/>
        </a:p>
      </dgm:t>
    </dgm:pt>
    <dgm:pt modelId="{9C062E64-7D13-407A-89CE-39DDB40768FE}">
      <dgm:prSet phldrT="[Texto]" custT="1"/>
      <dgm:spPr/>
      <dgm:t>
        <a:bodyPr/>
        <a:lstStyle/>
        <a:p>
          <a:pPr>
            <a:buNone/>
          </a:pPr>
          <a:r>
            <a:rPr lang="pt-BR" sz="2400" b="1" dirty="0">
              <a:solidFill>
                <a:schemeClr val="bg1"/>
              </a:solidFill>
            </a:rPr>
            <a:t>HTTPS</a:t>
          </a:r>
        </a:p>
        <a:p>
          <a:pPr>
            <a:buNone/>
          </a:pPr>
          <a:r>
            <a:rPr lang="pt-BR" sz="1800" dirty="0">
              <a:solidFill>
                <a:srgbClr val="002060"/>
              </a:solidFill>
            </a:rPr>
            <a:t>Versão segura do HTTP com criptografia TLS/SSL.</a:t>
          </a:r>
        </a:p>
      </dgm:t>
    </dgm:pt>
    <dgm:pt modelId="{6863FE1B-1211-455E-9333-E2B9559F3273}" type="parTrans" cxnId="{19388B07-198F-4101-880C-E1ED4DE63D91}">
      <dgm:prSet/>
      <dgm:spPr/>
      <dgm:t>
        <a:bodyPr/>
        <a:lstStyle/>
        <a:p>
          <a:endParaRPr lang="pt-BR"/>
        </a:p>
      </dgm:t>
    </dgm:pt>
    <dgm:pt modelId="{CC97A63D-FB78-48CF-ADF3-4FEC9555EDF9}" type="sibTrans" cxnId="{19388B07-198F-4101-880C-E1ED4DE63D91}">
      <dgm:prSet/>
      <dgm:spPr/>
      <dgm:t>
        <a:bodyPr/>
        <a:lstStyle/>
        <a:p>
          <a:endParaRPr lang="pt-BR"/>
        </a:p>
      </dgm:t>
    </dgm:pt>
    <dgm:pt modelId="{CC27B9F0-B283-4400-9064-5A3474F86874}">
      <dgm:prSet phldrT="[Texto]" custT="1"/>
      <dgm:spPr/>
      <dgm:t>
        <a:bodyPr/>
        <a:lstStyle/>
        <a:p>
          <a:pPr>
            <a:buNone/>
          </a:pPr>
          <a:r>
            <a:rPr lang="pt-BR" sz="2400" b="1" dirty="0">
              <a:solidFill>
                <a:schemeClr val="bg1"/>
              </a:solidFill>
            </a:rPr>
            <a:t>FTP</a:t>
          </a:r>
        </a:p>
        <a:p>
          <a:pPr>
            <a:buNone/>
          </a:pPr>
          <a:r>
            <a:rPr lang="pt-BR" sz="1800" dirty="0">
              <a:solidFill>
                <a:srgbClr val="002060"/>
              </a:solidFill>
            </a:rPr>
            <a:t>Transfere arquivos entre computadores em rede.</a:t>
          </a:r>
        </a:p>
      </dgm:t>
    </dgm:pt>
    <dgm:pt modelId="{BAC28FBB-0938-4C1F-944A-17409D5AF1B2}" type="parTrans" cxnId="{11ECF9F9-1F4E-4502-85EC-1F342E2ADE1B}">
      <dgm:prSet/>
      <dgm:spPr/>
      <dgm:t>
        <a:bodyPr/>
        <a:lstStyle/>
        <a:p>
          <a:endParaRPr lang="pt-BR"/>
        </a:p>
      </dgm:t>
    </dgm:pt>
    <dgm:pt modelId="{FFE5C6AA-1A3A-4541-9D83-7351EDC0A667}" type="sibTrans" cxnId="{11ECF9F9-1F4E-4502-85EC-1F342E2ADE1B}">
      <dgm:prSet/>
      <dgm:spPr/>
      <dgm:t>
        <a:bodyPr/>
        <a:lstStyle/>
        <a:p>
          <a:endParaRPr lang="pt-BR"/>
        </a:p>
      </dgm:t>
    </dgm:pt>
    <dgm:pt modelId="{8D48CAFB-ED41-4E96-A1F1-1AEFE3AAB284}">
      <dgm:prSet phldrT="[Texto]" custT="1"/>
      <dgm:spPr/>
      <dgm:t>
        <a:bodyPr/>
        <a:lstStyle/>
        <a:p>
          <a:pPr>
            <a:buNone/>
          </a:pPr>
          <a:r>
            <a:rPr lang="pt-BR" sz="2400" b="1" dirty="0">
              <a:solidFill>
                <a:schemeClr val="bg1"/>
              </a:solidFill>
            </a:rPr>
            <a:t>SMTP</a:t>
          </a:r>
        </a:p>
        <a:p>
          <a:pPr>
            <a:buNone/>
          </a:pPr>
          <a:r>
            <a:rPr lang="pt-BR" sz="1800" dirty="0">
              <a:solidFill>
                <a:srgbClr val="002060"/>
              </a:solidFill>
            </a:rPr>
            <a:t>Envia e-mails entre servidores de correio.</a:t>
          </a:r>
        </a:p>
      </dgm:t>
    </dgm:pt>
    <dgm:pt modelId="{A8695930-6EB5-4F77-946F-1EBFC1896BBB}" type="parTrans" cxnId="{E41F1C25-8CE2-4827-8587-EF056AE847FB}">
      <dgm:prSet/>
      <dgm:spPr/>
      <dgm:t>
        <a:bodyPr/>
        <a:lstStyle/>
        <a:p>
          <a:endParaRPr lang="pt-BR"/>
        </a:p>
      </dgm:t>
    </dgm:pt>
    <dgm:pt modelId="{B5F591F0-94F7-40F6-82A4-AF4290BC8DB4}" type="sibTrans" cxnId="{E41F1C25-8CE2-4827-8587-EF056AE847FB}">
      <dgm:prSet/>
      <dgm:spPr/>
      <dgm:t>
        <a:bodyPr/>
        <a:lstStyle/>
        <a:p>
          <a:endParaRPr lang="pt-BR"/>
        </a:p>
      </dgm:t>
    </dgm:pt>
    <dgm:pt modelId="{4CCE3DFF-5FFA-48A7-9F7A-A6511FC1C08F}">
      <dgm:prSet phldrT="[Texto]" custT="1"/>
      <dgm:spPr/>
      <dgm:t>
        <a:bodyPr/>
        <a:lstStyle/>
        <a:p>
          <a:pPr>
            <a:buNone/>
          </a:pPr>
          <a:r>
            <a:rPr lang="pt-BR" sz="2400" b="1" dirty="0">
              <a:solidFill>
                <a:schemeClr val="bg1"/>
              </a:solidFill>
            </a:rPr>
            <a:t>DNS</a:t>
          </a:r>
        </a:p>
        <a:p>
          <a:pPr>
            <a:buNone/>
          </a:pPr>
          <a:r>
            <a:rPr lang="pt-BR" sz="1800" dirty="0">
              <a:solidFill>
                <a:srgbClr val="002060"/>
              </a:solidFill>
            </a:rPr>
            <a:t>Traduz nomes de sites para endereços IP numéricos.</a:t>
          </a:r>
        </a:p>
      </dgm:t>
    </dgm:pt>
    <dgm:pt modelId="{AF383B70-F3E5-4388-9F32-0A4493171A95}" type="parTrans" cxnId="{5B285B1F-8B7A-45FD-88E9-879E0993F139}">
      <dgm:prSet/>
      <dgm:spPr/>
      <dgm:t>
        <a:bodyPr/>
        <a:lstStyle/>
        <a:p>
          <a:endParaRPr lang="pt-BR"/>
        </a:p>
      </dgm:t>
    </dgm:pt>
    <dgm:pt modelId="{D891217B-7270-4981-B5BE-0BFA8BB29B7D}" type="sibTrans" cxnId="{5B285B1F-8B7A-45FD-88E9-879E0993F139}">
      <dgm:prSet/>
      <dgm:spPr/>
      <dgm:t>
        <a:bodyPr/>
        <a:lstStyle/>
        <a:p>
          <a:endParaRPr lang="pt-BR"/>
        </a:p>
      </dgm:t>
    </dgm:pt>
    <dgm:pt modelId="{99492EA1-1C31-44D1-BC59-1B41312829F9}" type="pres">
      <dgm:prSet presAssocID="{164C8645-39AD-4A5E-98C8-943CA62FAE7C}" presName="diagram" presStyleCnt="0">
        <dgm:presLayoutVars>
          <dgm:dir/>
          <dgm:resizeHandles val="exact"/>
        </dgm:presLayoutVars>
      </dgm:prSet>
      <dgm:spPr/>
    </dgm:pt>
    <dgm:pt modelId="{6916E88F-44CE-4449-86EE-0F32647D2F0B}" type="pres">
      <dgm:prSet presAssocID="{FD561937-B9DF-4604-A92F-E2EC6E38D43B}" presName="node" presStyleLbl="node1" presStyleIdx="0" presStyleCnt="5">
        <dgm:presLayoutVars>
          <dgm:bulletEnabled val="1"/>
        </dgm:presLayoutVars>
      </dgm:prSet>
      <dgm:spPr/>
    </dgm:pt>
    <dgm:pt modelId="{A4275F3B-34B3-4D94-8A4B-FF70938C7375}" type="pres">
      <dgm:prSet presAssocID="{A78157B4-83E1-4C55-89D0-8F3F85F23870}" presName="sibTrans" presStyleCnt="0"/>
      <dgm:spPr/>
    </dgm:pt>
    <dgm:pt modelId="{8C0B6407-FF33-435C-8850-D24765D21313}" type="pres">
      <dgm:prSet presAssocID="{9C062E64-7D13-407A-89CE-39DDB40768FE}" presName="node" presStyleLbl="node1" presStyleIdx="1" presStyleCnt="5">
        <dgm:presLayoutVars>
          <dgm:bulletEnabled val="1"/>
        </dgm:presLayoutVars>
      </dgm:prSet>
      <dgm:spPr/>
    </dgm:pt>
    <dgm:pt modelId="{F3C80497-7F69-480E-B282-49916935BFCF}" type="pres">
      <dgm:prSet presAssocID="{CC97A63D-FB78-48CF-ADF3-4FEC9555EDF9}" presName="sibTrans" presStyleCnt="0"/>
      <dgm:spPr/>
    </dgm:pt>
    <dgm:pt modelId="{E1D330AF-D683-4B85-9D2C-74C89A8402E0}" type="pres">
      <dgm:prSet presAssocID="{CC27B9F0-B283-4400-9064-5A3474F86874}" presName="node" presStyleLbl="node1" presStyleIdx="2" presStyleCnt="5">
        <dgm:presLayoutVars>
          <dgm:bulletEnabled val="1"/>
        </dgm:presLayoutVars>
      </dgm:prSet>
      <dgm:spPr/>
    </dgm:pt>
    <dgm:pt modelId="{A4CEC650-841F-48FB-92FE-3329A129C2A5}" type="pres">
      <dgm:prSet presAssocID="{FFE5C6AA-1A3A-4541-9D83-7351EDC0A667}" presName="sibTrans" presStyleCnt="0"/>
      <dgm:spPr/>
    </dgm:pt>
    <dgm:pt modelId="{21BDFE25-D3A8-4120-985C-7569505219C2}" type="pres">
      <dgm:prSet presAssocID="{8D48CAFB-ED41-4E96-A1F1-1AEFE3AAB284}" presName="node" presStyleLbl="node1" presStyleIdx="3" presStyleCnt="5">
        <dgm:presLayoutVars>
          <dgm:bulletEnabled val="1"/>
        </dgm:presLayoutVars>
      </dgm:prSet>
      <dgm:spPr/>
    </dgm:pt>
    <dgm:pt modelId="{CA51687A-234F-4CBF-8DF2-594A0908138B}" type="pres">
      <dgm:prSet presAssocID="{B5F591F0-94F7-40F6-82A4-AF4290BC8DB4}" presName="sibTrans" presStyleCnt="0"/>
      <dgm:spPr/>
    </dgm:pt>
    <dgm:pt modelId="{8457510B-DAD6-42C1-8B77-D12E67BA4AE8}" type="pres">
      <dgm:prSet presAssocID="{4CCE3DFF-5FFA-48A7-9F7A-A6511FC1C08F}" presName="node" presStyleLbl="node1" presStyleIdx="4" presStyleCnt="5">
        <dgm:presLayoutVars>
          <dgm:bulletEnabled val="1"/>
        </dgm:presLayoutVars>
      </dgm:prSet>
      <dgm:spPr/>
    </dgm:pt>
  </dgm:ptLst>
  <dgm:cxnLst>
    <dgm:cxn modelId="{19388B07-198F-4101-880C-E1ED4DE63D91}" srcId="{164C8645-39AD-4A5E-98C8-943CA62FAE7C}" destId="{9C062E64-7D13-407A-89CE-39DDB40768FE}" srcOrd="1" destOrd="0" parTransId="{6863FE1B-1211-455E-9333-E2B9559F3273}" sibTransId="{CC97A63D-FB78-48CF-ADF3-4FEC9555EDF9}"/>
    <dgm:cxn modelId="{5B285B1F-8B7A-45FD-88E9-879E0993F139}" srcId="{164C8645-39AD-4A5E-98C8-943CA62FAE7C}" destId="{4CCE3DFF-5FFA-48A7-9F7A-A6511FC1C08F}" srcOrd="4" destOrd="0" parTransId="{AF383B70-F3E5-4388-9F32-0A4493171A95}" sibTransId="{D891217B-7270-4981-B5BE-0BFA8BB29B7D}"/>
    <dgm:cxn modelId="{E41F1C25-8CE2-4827-8587-EF056AE847FB}" srcId="{164C8645-39AD-4A5E-98C8-943CA62FAE7C}" destId="{8D48CAFB-ED41-4E96-A1F1-1AEFE3AAB284}" srcOrd="3" destOrd="0" parTransId="{A8695930-6EB5-4F77-946F-1EBFC1896BBB}" sibTransId="{B5F591F0-94F7-40F6-82A4-AF4290BC8DB4}"/>
    <dgm:cxn modelId="{496F812E-D553-4401-BFDA-7BDFF63E926F}" type="presOf" srcId="{164C8645-39AD-4A5E-98C8-943CA62FAE7C}" destId="{99492EA1-1C31-44D1-BC59-1B41312829F9}" srcOrd="0" destOrd="0" presId="urn:microsoft.com/office/officeart/2005/8/layout/default"/>
    <dgm:cxn modelId="{0F41405E-F91C-4D6D-92E7-7E041A7B7A1D}" type="presOf" srcId="{8D48CAFB-ED41-4E96-A1F1-1AEFE3AAB284}" destId="{21BDFE25-D3A8-4120-985C-7569505219C2}" srcOrd="0" destOrd="0" presId="urn:microsoft.com/office/officeart/2005/8/layout/default"/>
    <dgm:cxn modelId="{F9DE2279-2564-4CE7-8DDA-2285DDB21B30}" type="presOf" srcId="{9C062E64-7D13-407A-89CE-39DDB40768FE}" destId="{8C0B6407-FF33-435C-8850-D24765D21313}" srcOrd="0" destOrd="0" presId="urn:microsoft.com/office/officeart/2005/8/layout/default"/>
    <dgm:cxn modelId="{6BED787E-9FEE-4455-8234-295FC2F058C7}" type="presOf" srcId="{CC27B9F0-B283-4400-9064-5A3474F86874}" destId="{E1D330AF-D683-4B85-9D2C-74C89A8402E0}" srcOrd="0" destOrd="0" presId="urn:microsoft.com/office/officeart/2005/8/layout/default"/>
    <dgm:cxn modelId="{4F881985-267A-456B-9169-B019269A51AF}" type="presOf" srcId="{4CCE3DFF-5FFA-48A7-9F7A-A6511FC1C08F}" destId="{8457510B-DAD6-42C1-8B77-D12E67BA4AE8}" srcOrd="0" destOrd="0" presId="urn:microsoft.com/office/officeart/2005/8/layout/default"/>
    <dgm:cxn modelId="{0D33D387-54B2-41DD-B943-0542C5854B89}" srcId="{164C8645-39AD-4A5E-98C8-943CA62FAE7C}" destId="{FD561937-B9DF-4604-A92F-E2EC6E38D43B}" srcOrd="0" destOrd="0" parTransId="{0E8E02DC-6EFE-4195-88A1-9212E289EC04}" sibTransId="{A78157B4-83E1-4C55-89D0-8F3F85F23870}"/>
    <dgm:cxn modelId="{0B522CF6-7518-4947-BEED-2D5AFE104868}" type="presOf" srcId="{FD561937-B9DF-4604-A92F-E2EC6E38D43B}" destId="{6916E88F-44CE-4449-86EE-0F32647D2F0B}" srcOrd="0" destOrd="0" presId="urn:microsoft.com/office/officeart/2005/8/layout/default"/>
    <dgm:cxn modelId="{11ECF9F9-1F4E-4502-85EC-1F342E2ADE1B}" srcId="{164C8645-39AD-4A5E-98C8-943CA62FAE7C}" destId="{CC27B9F0-B283-4400-9064-5A3474F86874}" srcOrd="2" destOrd="0" parTransId="{BAC28FBB-0938-4C1F-944A-17409D5AF1B2}" sibTransId="{FFE5C6AA-1A3A-4541-9D83-7351EDC0A667}"/>
    <dgm:cxn modelId="{980AE103-96BE-4BE0-AE20-6A77ECC60EC0}" type="presParOf" srcId="{99492EA1-1C31-44D1-BC59-1B41312829F9}" destId="{6916E88F-44CE-4449-86EE-0F32647D2F0B}" srcOrd="0" destOrd="0" presId="urn:microsoft.com/office/officeart/2005/8/layout/default"/>
    <dgm:cxn modelId="{88378535-8D0A-4FBE-88C2-3D531267650B}" type="presParOf" srcId="{99492EA1-1C31-44D1-BC59-1B41312829F9}" destId="{A4275F3B-34B3-4D94-8A4B-FF70938C7375}" srcOrd="1" destOrd="0" presId="urn:microsoft.com/office/officeart/2005/8/layout/default"/>
    <dgm:cxn modelId="{7F354C00-4C34-489D-B166-86D8757CD064}" type="presParOf" srcId="{99492EA1-1C31-44D1-BC59-1B41312829F9}" destId="{8C0B6407-FF33-435C-8850-D24765D21313}" srcOrd="2" destOrd="0" presId="urn:microsoft.com/office/officeart/2005/8/layout/default"/>
    <dgm:cxn modelId="{339EE363-474E-48CA-8911-8E679A2E3FCC}" type="presParOf" srcId="{99492EA1-1C31-44D1-BC59-1B41312829F9}" destId="{F3C80497-7F69-480E-B282-49916935BFCF}" srcOrd="3" destOrd="0" presId="urn:microsoft.com/office/officeart/2005/8/layout/default"/>
    <dgm:cxn modelId="{0C6EFC61-C5B5-4446-84C2-09AA0E8891CA}" type="presParOf" srcId="{99492EA1-1C31-44D1-BC59-1B41312829F9}" destId="{E1D330AF-D683-4B85-9D2C-74C89A8402E0}" srcOrd="4" destOrd="0" presId="urn:microsoft.com/office/officeart/2005/8/layout/default"/>
    <dgm:cxn modelId="{111C9B59-1251-4EB6-822B-AE8637FFB79E}" type="presParOf" srcId="{99492EA1-1C31-44D1-BC59-1B41312829F9}" destId="{A4CEC650-841F-48FB-92FE-3329A129C2A5}" srcOrd="5" destOrd="0" presId="urn:microsoft.com/office/officeart/2005/8/layout/default"/>
    <dgm:cxn modelId="{AA0397E3-0563-4C69-8F56-28F6D9A9BD3F}" type="presParOf" srcId="{99492EA1-1C31-44D1-BC59-1B41312829F9}" destId="{21BDFE25-D3A8-4120-985C-7569505219C2}" srcOrd="6" destOrd="0" presId="urn:microsoft.com/office/officeart/2005/8/layout/default"/>
    <dgm:cxn modelId="{561A14C8-CD1C-4012-88E5-9BD5D88940C3}" type="presParOf" srcId="{99492EA1-1C31-44D1-BC59-1B41312829F9}" destId="{CA51687A-234F-4CBF-8DF2-594A0908138B}" srcOrd="7" destOrd="0" presId="urn:microsoft.com/office/officeart/2005/8/layout/default"/>
    <dgm:cxn modelId="{A94B951E-F643-4432-A77E-1F3C95FB69A7}" type="presParOf" srcId="{99492EA1-1C31-44D1-BC59-1B41312829F9}" destId="{8457510B-DAD6-42C1-8B77-D12E67BA4AE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16E88F-44CE-4449-86EE-0F32647D2F0B}">
      <dsp:nvSpPr>
        <dsp:cNvPr id="0" name=""/>
        <dsp:cNvSpPr/>
      </dsp:nvSpPr>
      <dsp:spPr>
        <a:xfrm>
          <a:off x="0" y="429865"/>
          <a:ext cx="2685851" cy="1611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solidFill>
                <a:schemeClr val="bg1"/>
              </a:solidFill>
            </a:rPr>
            <a:t>HTTP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rgbClr val="002060"/>
              </a:solidFill>
            </a:rPr>
            <a:t>Transmite páginas web entre navegador e servidor.</a:t>
          </a:r>
        </a:p>
      </dsp:txBody>
      <dsp:txXfrm>
        <a:off x="0" y="429865"/>
        <a:ext cx="2685851" cy="1611510"/>
      </dsp:txXfrm>
    </dsp:sp>
    <dsp:sp modelId="{8C0B6407-FF33-435C-8850-D24765D21313}">
      <dsp:nvSpPr>
        <dsp:cNvPr id="0" name=""/>
        <dsp:cNvSpPr/>
      </dsp:nvSpPr>
      <dsp:spPr>
        <a:xfrm>
          <a:off x="2954436" y="429865"/>
          <a:ext cx="2685851" cy="1611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solidFill>
                <a:schemeClr val="bg1"/>
              </a:solidFill>
            </a:rPr>
            <a:t>HTTPS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rgbClr val="002060"/>
              </a:solidFill>
            </a:rPr>
            <a:t>Versão segura do HTTP com criptografia TLS/SSL.</a:t>
          </a:r>
        </a:p>
      </dsp:txBody>
      <dsp:txXfrm>
        <a:off x="2954436" y="429865"/>
        <a:ext cx="2685851" cy="1611510"/>
      </dsp:txXfrm>
    </dsp:sp>
    <dsp:sp modelId="{E1D330AF-D683-4B85-9D2C-74C89A8402E0}">
      <dsp:nvSpPr>
        <dsp:cNvPr id="0" name=""/>
        <dsp:cNvSpPr/>
      </dsp:nvSpPr>
      <dsp:spPr>
        <a:xfrm>
          <a:off x="5908873" y="429865"/>
          <a:ext cx="2685851" cy="1611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solidFill>
                <a:schemeClr val="bg1"/>
              </a:solidFill>
            </a:rPr>
            <a:t>FTP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rgbClr val="002060"/>
              </a:solidFill>
            </a:rPr>
            <a:t>Transfere arquivos entre computadores em rede.</a:t>
          </a:r>
        </a:p>
      </dsp:txBody>
      <dsp:txXfrm>
        <a:off x="5908873" y="429865"/>
        <a:ext cx="2685851" cy="1611510"/>
      </dsp:txXfrm>
    </dsp:sp>
    <dsp:sp modelId="{21BDFE25-D3A8-4120-985C-7569505219C2}">
      <dsp:nvSpPr>
        <dsp:cNvPr id="0" name=""/>
        <dsp:cNvSpPr/>
      </dsp:nvSpPr>
      <dsp:spPr>
        <a:xfrm>
          <a:off x="1477218" y="2309961"/>
          <a:ext cx="2685851" cy="1611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solidFill>
                <a:schemeClr val="bg1"/>
              </a:solidFill>
            </a:rPr>
            <a:t>SMTP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rgbClr val="002060"/>
              </a:solidFill>
            </a:rPr>
            <a:t>Envia e-mails entre servidores de correio.</a:t>
          </a:r>
        </a:p>
      </dsp:txBody>
      <dsp:txXfrm>
        <a:off x="1477218" y="2309961"/>
        <a:ext cx="2685851" cy="1611510"/>
      </dsp:txXfrm>
    </dsp:sp>
    <dsp:sp modelId="{8457510B-DAD6-42C1-8B77-D12E67BA4AE8}">
      <dsp:nvSpPr>
        <dsp:cNvPr id="0" name=""/>
        <dsp:cNvSpPr/>
      </dsp:nvSpPr>
      <dsp:spPr>
        <a:xfrm>
          <a:off x="4431655" y="2309961"/>
          <a:ext cx="2685851" cy="1611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solidFill>
                <a:schemeClr val="bg1"/>
              </a:solidFill>
            </a:rPr>
            <a:t>DNS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rgbClr val="002060"/>
              </a:solidFill>
            </a:rPr>
            <a:t>Traduz nomes de sites para endereços IP numéricos.</a:t>
          </a:r>
        </a:p>
      </dsp:txBody>
      <dsp:txXfrm>
        <a:off x="4431655" y="2309961"/>
        <a:ext cx="2685851" cy="16115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7FC176E-57C1-40A4-B967-45C8C1B34AD8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3BEC5D36-2D8A-4BBF-B53D-E8ADF279B01C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35247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176E-57C1-40A4-B967-45C8C1B34AD8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C5D36-2D8A-4BBF-B53D-E8ADF279B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35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176E-57C1-40A4-B967-45C8C1B34AD8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C5D36-2D8A-4BBF-B53D-E8ADF279B01C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80985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176E-57C1-40A4-B967-45C8C1B34AD8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C5D36-2D8A-4BBF-B53D-E8ADF279B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06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176E-57C1-40A4-B967-45C8C1B34AD8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C5D36-2D8A-4BBF-B53D-E8ADF279B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09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176E-57C1-40A4-B967-45C8C1B34AD8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C5D36-2D8A-4BBF-B53D-E8ADF279B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024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176E-57C1-40A4-B967-45C8C1B34AD8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C5D36-2D8A-4BBF-B53D-E8ADF279B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94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176E-57C1-40A4-B967-45C8C1B34AD8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C5D36-2D8A-4BBF-B53D-E8ADF279B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264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176E-57C1-40A4-B967-45C8C1B34AD8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C5D36-2D8A-4BBF-B53D-E8ADF279B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63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176E-57C1-40A4-B967-45C8C1B34AD8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C5D36-2D8A-4BBF-B53D-E8ADF279B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8190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176E-57C1-40A4-B967-45C8C1B34AD8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C5D36-2D8A-4BBF-B53D-E8ADF279B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263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7FC176E-57C1-40A4-B967-45C8C1B34AD8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3BEC5D36-2D8A-4BBF-B53D-E8ADF279B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4183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C4228FF-3D96-0A0D-67EB-3EF923649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26598" b="1715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1888B29-6C0B-6AD9-1FFF-BD18D53CA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00B050"/>
                </a:solidFill>
                <a:latin typeface="Bodoni MT Black" panose="02070A03080606020203" pitchFamily="18" charset="0"/>
              </a:rPr>
              <a:t>Protocolos e Redes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913068-5052-EF40-770A-2C5E31B5C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tx1">
                    <a:lumMod val="85000"/>
                  </a:schemeClr>
                </a:solidFill>
              </a:rPr>
              <a:t>Miguel Ananias Alves</a:t>
            </a:r>
          </a:p>
          <a:p>
            <a:r>
              <a:rPr lang="pt-BR" dirty="0">
                <a:solidFill>
                  <a:schemeClr val="tx1">
                    <a:lumMod val="85000"/>
                  </a:schemeClr>
                </a:solidFill>
              </a:rPr>
              <a:t>Pedro Pereira ima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FBFB44-5702-4C90-B87C-142B0DF5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512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C933FD-F67E-68A2-DAC2-9C0E3263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pt-BR" sz="2800" dirty="0">
                <a:solidFill>
                  <a:srgbClr val="00B050"/>
                </a:solidFill>
                <a:latin typeface="Bodoni MT Black" panose="02070A03080606020203" pitchFamily="18" charset="0"/>
              </a:rPr>
              <a:t>Definição de protocolos:</a:t>
            </a:r>
            <a:br>
              <a:rPr lang="pt-BR" sz="2800" dirty="0">
                <a:latin typeface="Bodoni MT Black" panose="02070A03080606020203" pitchFamily="18" charset="0"/>
              </a:rPr>
            </a:br>
            <a:br>
              <a:rPr lang="pt-BR" sz="2800" dirty="0">
                <a:solidFill>
                  <a:srgbClr val="FFFFFF"/>
                </a:solidFill>
                <a:latin typeface="Bodoni MT Black" panose="02070A03080606020203" pitchFamily="18" charset="0"/>
              </a:rPr>
            </a:br>
            <a:r>
              <a:rPr lang="pt-BR" sz="2400" dirty="0">
                <a:solidFill>
                  <a:schemeClr val="bg1"/>
                </a:solidFill>
              </a:rPr>
              <a:t>Protocolos são conjuntos de regras que definem como dispositivos se comunicam em uma rede.</a:t>
            </a:r>
            <a:br>
              <a:rPr lang="pt-BR" sz="2400" dirty="0"/>
            </a:br>
            <a:endParaRPr lang="pt-BR" sz="2400" dirty="0">
              <a:solidFill>
                <a:srgbClr val="FFFFFF"/>
              </a:solidFill>
              <a:latin typeface="Bodoni MT Black" panose="02070A03080606020203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008491B-5C56-AFC2-07E0-333BDE138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Sem protocolos padronizados, a internet simplesmente não existiria. </a:t>
            </a:r>
            <a:r>
              <a:rPr lang="pt-BR" sz="2400" dirty="0">
                <a:solidFill>
                  <a:srgbClr val="00B0F0"/>
                </a:solidFill>
              </a:rPr>
              <a:t>Pois elas:</a:t>
            </a:r>
          </a:p>
          <a:p>
            <a:r>
              <a:rPr lang="pt-BR" sz="2400" dirty="0"/>
              <a:t>Definem formato dos dados</a:t>
            </a:r>
          </a:p>
          <a:p>
            <a:r>
              <a:rPr lang="pt-BR" sz="2400" dirty="0"/>
              <a:t>Controlam a velocidade de transmissão</a:t>
            </a:r>
          </a:p>
          <a:p>
            <a:r>
              <a:rPr lang="pt-BR" sz="2400" dirty="0"/>
              <a:t>Garantem segurança e confiabilidade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331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2BD89-E149-96A6-C012-E5B13F340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00B050"/>
                </a:solidFill>
              </a:rPr>
              <a:t>Protocolos de Aplicação</a:t>
            </a:r>
            <a:br>
              <a:rPr lang="pt-BR" b="1" dirty="0"/>
            </a:br>
            <a:endParaRPr lang="pt-BR" dirty="0"/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117BFB3D-64F9-891B-AE84-1C8F724672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036367"/>
              </p:ext>
            </p:extLst>
          </p:nvPr>
        </p:nvGraphicFramePr>
        <p:xfrm>
          <a:off x="1237487" y="2034862"/>
          <a:ext cx="85947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97960E39-9115-9579-608A-85AE32A66DEA}"/>
              </a:ext>
            </a:extLst>
          </p:cNvPr>
          <p:cNvSpPr txBox="1"/>
          <p:nvPr/>
        </p:nvSpPr>
        <p:spPr>
          <a:xfrm>
            <a:off x="1237487" y="1388531"/>
            <a:ext cx="8594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Os protocolos mais próximos do usuário responsáveis por serviços como navegação, e-mail e transferência de arquivos.</a:t>
            </a:r>
          </a:p>
        </p:txBody>
      </p:sp>
    </p:spTree>
    <p:extLst>
      <p:ext uri="{BB962C8B-B14F-4D97-AF65-F5344CB8AC3E}">
        <p14:creationId xmlns:p14="http://schemas.microsoft.com/office/powerpoint/2010/main" val="708980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C0608-DDA5-F1D6-4344-ACE731DF6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-202057"/>
            <a:ext cx="7735824" cy="16069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dirty="0" err="1">
                <a:solidFill>
                  <a:srgbClr val="00B050"/>
                </a:solidFill>
              </a:rPr>
              <a:t>Protocolos</a:t>
            </a:r>
            <a:r>
              <a:rPr lang="en-US" sz="3400" b="1" dirty="0">
                <a:solidFill>
                  <a:srgbClr val="00B050"/>
                </a:solidFill>
              </a:rPr>
              <a:t> de Transporte</a:t>
            </a:r>
            <a:br>
              <a:rPr lang="en-US" sz="3400" dirty="0"/>
            </a:br>
            <a:endParaRPr lang="en-US" sz="3400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92C96CB-8C10-AEA4-DBF0-7D3D4E4FA7E7}"/>
              </a:ext>
            </a:extLst>
          </p:cNvPr>
          <p:cNvSpPr/>
          <p:nvPr/>
        </p:nvSpPr>
        <p:spPr>
          <a:xfrm>
            <a:off x="724920" y="2238375"/>
            <a:ext cx="5036229" cy="32147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/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US" sz="2400" b="1" dirty="0">
                <a:solidFill>
                  <a:schemeClr val="bg1"/>
                </a:solidFill>
              </a:rPr>
              <a:t>TCP</a:t>
            </a:r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US" sz="2400" b="1" dirty="0">
                <a:solidFill>
                  <a:schemeClr val="bg1"/>
                </a:solidFill>
              </a:rPr>
              <a:t>Transmission Control Protocol</a:t>
            </a:r>
            <a:endParaRPr lang="en-US" sz="2400" dirty="0">
              <a:solidFill>
                <a:schemeClr val="bg1"/>
              </a:solidFill>
            </a:endParaRPr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US" dirty="0" err="1">
                <a:solidFill>
                  <a:srgbClr val="002060"/>
                </a:solidFill>
              </a:rPr>
              <a:t>Conexão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confiável</a:t>
            </a:r>
            <a:r>
              <a:rPr lang="en-US" dirty="0">
                <a:solidFill>
                  <a:srgbClr val="002060"/>
                </a:solidFill>
              </a:rPr>
              <a:t> e </a:t>
            </a:r>
            <a:r>
              <a:rPr lang="en-US" dirty="0" err="1">
                <a:solidFill>
                  <a:srgbClr val="002060"/>
                </a:solidFill>
              </a:rPr>
              <a:t>ordenada</a:t>
            </a:r>
            <a:endParaRPr lang="en-US" dirty="0">
              <a:solidFill>
                <a:srgbClr val="002060"/>
              </a:solidFill>
            </a:endParaRPr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US" dirty="0" err="1">
                <a:solidFill>
                  <a:srgbClr val="002060"/>
                </a:solidFill>
              </a:rPr>
              <a:t>Confirma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recebimento</a:t>
            </a:r>
            <a:r>
              <a:rPr lang="en-US" dirty="0">
                <a:solidFill>
                  <a:srgbClr val="002060"/>
                </a:solidFill>
              </a:rPr>
              <a:t> de dados</a:t>
            </a:r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US" dirty="0" err="1">
                <a:solidFill>
                  <a:srgbClr val="002060"/>
                </a:solidFill>
              </a:rPr>
              <a:t>Corrige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erros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automaticamente</a:t>
            </a:r>
            <a:endParaRPr lang="en-US" dirty="0">
              <a:solidFill>
                <a:srgbClr val="002060"/>
              </a:solidFill>
            </a:endParaRPr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US" dirty="0">
                <a:solidFill>
                  <a:srgbClr val="002060"/>
                </a:solidFill>
              </a:rPr>
              <a:t>Mais lento, </a:t>
            </a:r>
            <a:r>
              <a:rPr lang="en-US" dirty="0" err="1">
                <a:solidFill>
                  <a:srgbClr val="002060"/>
                </a:solidFill>
              </a:rPr>
              <a:t>porém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seguro</a:t>
            </a:r>
            <a:endParaRPr lang="en-US" dirty="0">
              <a:solidFill>
                <a:srgbClr val="002060"/>
              </a:solidFill>
            </a:endParaRPr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US" dirty="0">
                <a:solidFill>
                  <a:srgbClr val="002060"/>
                </a:solidFill>
              </a:rPr>
              <a:t>📧 E-mail · 🌐 Web · 📁 FTP</a:t>
            </a:r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endParaRPr lang="en-US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30B91F9-F04A-3CDC-2F53-168674111326}"/>
              </a:ext>
            </a:extLst>
          </p:cNvPr>
          <p:cNvSpPr/>
          <p:nvPr/>
        </p:nvSpPr>
        <p:spPr>
          <a:xfrm>
            <a:off x="6096000" y="2238375"/>
            <a:ext cx="5036229" cy="33666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pt-BR" sz="2400" b="1" dirty="0">
                <a:solidFill>
                  <a:schemeClr val="bg1"/>
                </a:solidFill>
              </a:rPr>
              <a:t>UDP</a:t>
            </a:r>
          </a:p>
          <a:p>
            <a:pPr>
              <a:spcAft>
                <a:spcPts val="600"/>
              </a:spcAft>
            </a:pPr>
            <a:r>
              <a:rPr lang="pt-BR" sz="2400" b="1" dirty="0" err="1">
                <a:solidFill>
                  <a:schemeClr val="bg1"/>
                </a:solidFill>
              </a:rPr>
              <a:t>User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400" b="1" dirty="0" err="1">
                <a:solidFill>
                  <a:schemeClr val="bg1"/>
                </a:solidFill>
              </a:rPr>
              <a:t>Datagram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400" b="1" dirty="0" err="1">
                <a:solidFill>
                  <a:schemeClr val="bg1"/>
                </a:solidFill>
              </a:rPr>
              <a:t>Protocol</a:t>
            </a:r>
            <a:endParaRPr lang="pt-BR" sz="24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pt-BR" dirty="0">
                <a:solidFill>
                  <a:srgbClr val="002060"/>
                </a:solidFill>
              </a:rPr>
              <a:t>Sem confirmação de entrega</a:t>
            </a:r>
          </a:p>
          <a:p>
            <a:pPr>
              <a:spcAft>
                <a:spcPts val="600"/>
              </a:spcAft>
            </a:pPr>
            <a:r>
              <a:rPr lang="pt-BR" dirty="0">
                <a:solidFill>
                  <a:srgbClr val="002060"/>
                </a:solidFill>
              </a:rPr>
              <a:t>Mais rápido e leve</a:t>
            </a:r>
          </a:p>
          <a:p>
            <a:pPr>
              <a:spcAft>
                <a:spcPts val="600"/>
              </a:spcAft>
            </a:pPr>
            <a:r>
              <a:rPr lang="pt-BR" dirty="0">
                <a:solidFill>
                  <a:srgbClr val="002060"/>
                </a:solidFill>
              </a:rPr>
              <a:t>Permite perda de pacotes</a:t>
            </a:r>
          </a:p>
          <a:p>
            <a:pPr>
              <a:spcAft>
                <a:spcPts val="600"/>
              </a:spcAft>
            </a:pPr>
            <a:r>
              <a:rPr lang="pt-BR" dirty="0">
                <a:solidFill>
                  <a:srgbClr val="002060"/>
                </a:solidFill>
              </a:rPr>
              <a:t>Ideal para tempo real</a:t>
            </a:r>
          </a:p>
          <a:p>
            <a:pPr>
              <a:spcAft>
                <a:spcPts val="600"/>
              </a:spcAft>
            </a:pPr>
            <a:r>
              <a:rPr lang="pt-BR" dirty="0">
                <a:solidFill>
                  <a:srgbClr val="002060"/>
                </a:solidFill>
              </a:rPr>
              <a:t>🎮 Jogos online · 🎥 Streaming · 📞 VoIP</a:t>
            </a:r>
          </a:p>
          <a:p>
            <a:pPr algn="ctr">
              <a:spcAft>
                <a:spcPts val="600"/>
              </a:spcAft>
            </a:pP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9F2368E-4911-5F8A-E72B-C3A10A00DF50}"/>
              </a:ext>
            </a:extLst>
          </p:cNvPr>
          <p:cNvSpPr txBox="1"/>
          <p:nvPr/>
        </p:nvSpPr>
        <p:spPr>
          <a:xfrm>
            <a:off x="1060704" y="1404891"/>
            <a:ext cx="10070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dirty="0"/>
              <a:t>Os dois principais protocolos da camada de transporte, cada um com um propósito diferente.</a:t>
            </a:r>
          </a:p>
        </p:txBody>
      </p:sp>
    </p:spTree>
    <p:extLst>
      <p:ext uri="{BB962C8B-B14F-4D97-AF65-F5344CB8AC3E}">
        <p14:creationId xmlns:p14="http://schemas.microsoft.com/office/powerpoint/2010/main" val="3672213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31DFEB-1A56-C535-4E7F-C8071A33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00B050"/>
                </a:solidFill>
              </a:rPr>
              <a:t>Protocolos de Rede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18B102-E47D-F57A-16F0-865C53D3C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1"/>
            <a:ext cx="9273046" cy="978794"/>
          </a:xfrm>
        </p:spPr>
        <p:txBody>
          <a:bodyPr/>
          <a:lstStyle/>
          <a:p>
            <a:r>
              <a:rPr lang="pt-BR" dirty="0"/>
              <a:t>Responsáveis pelo endereçamento e roteamento dos dados pela internet.</a:t>
            </a:r>
          </a:p>
          <a:p>
            <a:endParaRPr lang="pt-BR" dirty="0"/>
          </a:p>
        </p:txBody>
      </p:sp>
      <p:sp>
        <p:nvSpPr>
          <p:cNvPr id="4" name="Retângulo: Cantos Diagonais Arredondados 3">
            <a:extLst>
              <a:ext uri="{FF2B5EF4-FFF2-40B4-BE49-F238E27FC236}">
                <a16:creationId xmlns:a16="http://schemas.microsoft.com/office/drawing/2014/main" id="{A1A691C0-364D-F62A-0304-E323CBF71F65}"/>
              </a:ext>
            </a:extLst>
          </p:cNvPr>
          <p:cNvSpPr/>
          <p:nvPr/>
        </p:nvSpPr>
        <p:spPr>
          <a:xfrm>
            <a:off x="1261872" y="2945073"/>
            <a:ext cx="3937329" cy="3547165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chemeClr val="bg1"/>
                </a:solidFill>
              </a:rPr>
              <a:t>IP — Internet </a:t>
            </a:r>
            <a:r>
              <a:rPr lang="pt-BR" sz="2400" b="1" dirty="0" err="1">
                <a:solidFill>
                  <a:schemeClr val="bg1"/>
                </a:solidFill>
              </a:rPr>
              <a:t>Protocol</a:t>
            </a:r>
            <a:endParaRPr lang="pt-BR" sz="2400" b="1" dirty="0">
              <a:solidFill>
                <a:schemeClr val="bg1"/>
              </a:solidFill>
            </a:endParaRPr>
          </a:p>
          <a:p>
            <a:endParaRPr lang="pt-BR" sz="2400" b="1" dirty="0">
              <a:solidFill>
                <a:schemeClr val="bg1"/>
              </a:solidFill>
            </a:endParaRPr>
          </a:p>
          <a:p>
            <a:r>
              <a:rPr lang="pt-BR" sz="1600" dirty="0">
                <a:solidFill>
                  <a:srgbClr val="002060"/>
                </a:solidFill>
              </a:rPr>
              <a:t>Atribui endereços únicos a cada dispositivo e define o caminho que os dados percorrem na rede.</a:t>
            </a:r>
          </a:p>
        </p:txBody>
      </p:sp>
      <p:sp>
        <p:nvSpPr>
          <p:cNvPr id="5" name="Retângulo: Cantos Diagonais Arredondados 4">
            <a:extLst>
              <a:ext uri="{FF2B5EF4-FFF2-40B4-BE49-F238E27FC236}">
                <a16:creationId xmlns:a16="http://schemas.microsoft.com/office/drawing/2014/main" id="{D0693C20-E6F2-85C7-56C5-9677EEFC3793}"/>
              </a:ext>
            </a:extLst>
          </p:cNvPr>
          <p:cNvSpPr/>
          <p:nvPr/>
        </p:nvSpPr>
        <p:spPr>
          <a:xfrm>
            <a:off x="6108192" y="2945072"/>
            <a:ext cx="3937329" cy="354716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chemeClr val="bg1"/>
                </a:solidFill>
              </a:rPr>
              <a:t>ICMP — Internet </a:t>
            </a:r>
            <a:r>
              <a:rPr lang="pt-BR" sz="2400" b="1" dirty="0" err="1">
                <a:solidFill>
                  <a:schemeClr val="bg1"/>
                </a:solidFill>
              </a:rPr>
              <a:t>Control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400" b="1" dirty="0" err="1">
                <a:solidFill>
                  <a:schemeClr val="bg1"/>
                </a:solidFill>
              </a:rPr>
              <a:t>Message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400" b="1" dirty="0" err="1">
                <a:solidFill>
                  <a:schemeClr val="bg1"/>
                </a:solidFill>
              </a:rPr>
              <a:t>Protocol</a:t>
            </a:r>
            <a:endParaRPr lang="pt-BR" sz="2400" b="1" dirty="0">
              <a:solidFill>
                <a:schemeClr val="bg1"/>
              </a:solidFill>
            </a:endParaRPr>
          </a:p>
          <a:p>
            <a:endParaRPr lang="pt-BR" sz="2400" b="1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rgbClr val="002060"/>
                </a:solidFill>
              </a:rPr>
              <a:t>Envia mensagens de diagnóstico e erro. É a base do comando </a:t>
            </a:r>
            <a:r>
              <a:rPr lang="pt-BR" dirty="0" err="1">
                <a:solidFill>
                  <a:srgbClr val="002060"/>
                </a:solidFill>
              </a:rPr>
              <a:t>ping</a:t>
            </a:r>
            <a:r>
              <a:rPr lang="pt-BR" dirty="0">
                <a:solidFill>
                  <a:srgbClr val="002060"/>
                </a:solidFill>
              </a:rPr>
              <a:t>.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2189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39BEC-8B39-8753-5D52-6AEC01F25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B050"/>
                </a:solidFill>
              </a:rPr>
              <a:t>Protocolos de </a:t>
            </a:r>
            <a:r>
              <a:rPr lang="pt-BR" dirty="0" err="1">
                <a:solidFill>
                  <a:srgbClr val="00B050"/>
                </a:solidFill>
              </a:rPr>
              <a:t>Enlance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35D618-1596-C0B5-8A49-278A203C4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Controlam a comunicação física entre dispositivos diretamente conectados.</a:t>
            </a:r>
          </a:p>
          <a:p>
            <a:endParaRPr lang="pt-BR" dirty="0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BAA81469-632F-337C-A52B-790B0E336858}"/>
              </a:ext>
            </a:extLst>
          </p:cNvPr>
          <p:cNvSpPr/>
          <p:nvPr/>
        </p:nvSpPr>
        <p:spPr>
          <a:xfrm>
            <a:off x="380100" y="2815501"/>
            <a:ext cx="3325008" cy="3364635"/>
          </a:xfrm>
          <a:custGeom>
            <a:avLst/>
            <a:gdLst>
              <a:gd name="csX0" fmla="*/ 0 w 3325008"/>
              <a:gd name="csY0" fmla="*/ 0 h 1901919"/>
              <a:gd name="csX1" fmla="*/ 3325008 w 3325008"/>
              <a:gd name="csY1" fmla="*/ 0 h 1901919"/>
              <a:gd name="csX2" fmla="*/ 3325008 w 3325008"/>
              <a:gd name="csY2" fmla="*/ 1901919 h 1901919"/>
              <a:gd name="csX3" fmla="*/ 0 w 3325008"/>
              <a:gd name="csY3" fmla="*/ 1901919 h 1901919"/>
              <a:gd name="csX4" fmla="*/ 0 w 3325008"/>
              <a:gd name="csY4" fmla="*/ 0 h 19019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5008" h="1901919">
                <a:moveTo>
                  <a:pt x="0" y="0"/>
                </a:moveTo>
                <a:lnTo>
                  <a:pt x="3325008" y="0"/>
                </a:lnTo>
                <a:lnTo>
                  <a:pt x="3325008" y="1901919"/>
                </a:lnTo>
                <a:lnTo>
                  <a:pt x="0" y="19019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b="1" kern="1200" dirty="0">
                <a:solidFill>
                  <a:schemeClr val="bg1"/>
                </a:solidFill>
              </a:rPr>
              <a:t>ARP</a:t>
            </a:r>
          </a:p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kern="1200" dirty="0">
                <a:solidFill>
                  <a:srgbClr val="002060"/>
                </a:solidFill>
              </a:rPr>
              <a:t>Descobre o endereço MAC de um dispositivo a partir do seu IP na rede local.</a:t>
            </a:r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B7157804-FB67-3295-44A6-D45EE5F25BF5}"/>
              </a:ext>
            </a:extLst>
          </p:cNvPr>
          <p:cNvSpPr/>
          <p:nvPr/>
        </p:nvSpPr>
        <p:spPr>
          <a:xfrm>
            <a:off x="4004802" y="2811547"/>
            <a:ext cx="3325008" cy="3364635"/>
          </a:xfrm>
          <a:custGeom>
            <a:avLst/>
            <a:gdLst>
              <a:gd name="csX0" fmla="*/ 0 w 3066881"/>
              <a:gd name="csY0" fmla="*/ 0 h 2002323"/>
              <a:gd name="csX1" fmla="*/ 3066881 w 3066881"/>
              <a:gd name="csY1" fmla="*/ 0 h 2002323"/>
              <a:gd name="csX2" fmla="*/ 3066881 w 3066881"/>
              <a:gd name="csY2" fmla="*/ 2002323 h 2002323"/>
              <a:gd name="csX3" fmla="*/ 0 w 3066881"/>
              <a:gd name="csY3" fmla="*/ 2002323 h 2002323"/>
              <a:gd name="csX4" fmla="*/ 0 w 3066881"/>
              <a:gd name="csY4" fmla="*/ 0 h 20023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66881" h="2002323">
                <a:moveTo>
                  <a:pt x="0" y="0"/>
                </a:moveTo>
                <a:lnTo>
                  <a:pt x="3066881" y="0"/>
                </a:lnTo>
                <a:lnTo>
                  <a:pt x="3066881" y="2002323"/>
                </a:lnTo>
                <a:lnTo>
                  <a:pt x="0" y="200232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b="1" kern="1200" dirty="0">
                <a:solidFill>
                  <a:schemeClr val="bg1"/>
                </a:solidFill>
              </a:rPr>
              <a:t>Ethernet</a:t>
            </a:r>
          </a:p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kern="1200" dirty="0">
                <a:solidFill>
                  <a:srgbClr val="002060"/>
                </a:solidFill>
              </a:rPr>
              <a:t>Padrão mais comum em redes cabeadas. Define velocidade, formato e controle de acesso.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A6C7E29E-DBD9-5252-12A9-F4F45F22715A}"/>
              </a:ext>
            </a:extLst>
          </p:cNvPr>
          <p:cNvSpPr/>
          <p:nvPr/>
        </p:nvSpPr>
        <p:spPr>
          <a:xfrm>
            <a:off x="7629504" y="2811548"/>
            <a:ext cx="3325008" cy="3368588"/>
          </a:xfrm>
          <a:custGeom>
            <a:avLst/>
            <a:gdLst>
              <a:gd name="csX0" fmla="*/ 0 w 3880520"/>
              <a:gd name="csY0" fmla="*/ 0 h 1859646"/>
              <a:gd name="csX1" fmla="*/ 3880520 w 3880520"/>
              <a:gd name="csY1" fmla="*/ 0 h 1859646"/>
              <a:gd name="csX2" fmla="*/ 3880520 w 3880520"/>
              <a:gd name="csY2" fmla="*/ 1859646 h 1859646"/>
              <a:gd name="csX3" fmla="*/ 0 w 3880520"/>
              <a:gd name="csY3" fmla="*/ 1859646 h 1859646"/>
              <a:gd name="csX4" fmla="*/ 0 w 3880520"/>
              <a:gd name="csY4" fmla="*/ 0 h 1859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80520" h="1859646">
                <a:moveTo>
                  <a:pt x="0" y="0"/>
                </a:moveTo>
                <a:lnTo>
                  <a:pt x="3880520" y="0"/>
                </a:lnTo>
                <a:lnTo>
                  <a:pt x="3880520" y="1859646"/>
                </a:lnTo>
                <a:lnTo>
                  <a:pt x="0" y="185964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400" b="1" kern="1200" dirty="0">
                <a:solidFill>
                  <a:schemeClr val="bg1"/>
                </a:solidFill>
              </a:rPr>
              <a:t>Wi-Fi</a:t>
            </a:r>
          </a:p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kern="1200" dirty="0">
                <a:solidFill>
                  <a:srgbClr val="002060"/>
                </a:solidFill>
              </a:rPr>
              <a:t>Protocolo para redes sem fio baseado na família IEEE 802.11. Presente em todos os dispositivos modernos.</a:t>
            </a:r>
          </a:p>
        </p:txBody>
      </p:sp>
    </p:spTree>
    <p:extLst>
      <p:ext uri="{BB962C8B-B14F-4D97-AF65-F5344CB8AC3E}">
        <p14:creationId xmlns:p14="http://schemas.microsoft.com/office/powerpoint/2010/main" val="86066270"/>
      </p:ext>
    </p:extLst>
  </p:cSld>
  <p:clrMapOvr>
    <a:masterClrMapping/>
  </p:clrMapOvr>
</p:sld>
</file>

<file path=ppt/theme/theme1.xml><?xml version="1.0" encoding="utf-8"?>
<a:theme xmlns:a="http://schemas.openxmlformats.org/drawingml/2006/main" name="Exibir">
  <a:themeElements>
    <a:clrScheme name="Exibir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Exibir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xibir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Exibir</Template>
  <TotalTime>90</TotalTime>
  <Words>322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Bodoni MT Black</vt:lpstr>
      <vt:lpstr>Century Schoolbook</vt:lpstr>
      <vt:lpstr>Wingdings 2</vt:lpstr>
      <vt:lpstr>Exibir</vt:lpstr>
      <vt:lpstr>Protocolos e Redes</vt:lpstr>
      <vt:lpstr>Definição de protocolos:  Protocolos são conjuntos de regras que definem como dispositivos se comunicam em uma rede. </vt:lpstr>
      <vt:lpstr>Protocolos de Aplicação </vt:lpstr>
      <vt:lpstr>Protocolos de Transporte </vt:lpstr>
      <vt:lpstr>Protocolos de Rede </vt:lpstr>
      <vt:lpstr>Protocolos de Enlance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Ananias Alves</dc:creator>
  <cp:lastModifiedBy>Miguel Ananias Alves</cp:lastModifiedBy>
  <cp:revision>3</cp:revision>
  <dcterms:created xsi:type="dcterms:W3CDTF">2026-05-26T19:56:00Z</dcterms:created>
  <dcterms:modified xsi:type="dcterms:W3CDTF">2026-06-01T21:00:09Z</dcterms:modified>
</cp:coreProperties>
</file>