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7"/>
  </p:notesMasterIdLst>
  <p:sldIdLst>
    <p:sldId id="256" r:id="rId2"/>
    <p:sldId id="259" r:id="rId3"/>
    <p:sldId id="260" r:id="rId4"/>
    <p:sldId id="257" r:id="rId5"/>
    <p:sldId id="258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9" r:id="rId14"/>
    <p:sldId id="267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16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65337-402F-4DDC-B864-44868D2D4F8E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96075-C968-48D7-93C2-ADB6C625F4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195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796075-C968-48D7-93C2-ADB6C625F45E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47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57659-A2C7-4135-8F43-391443318635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864CB-DC6D-4DEF-A686-3ABA85C724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0323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57659-A2C7-4135-8F43-391443318635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864CB-DC6D-4DEF-A686-3ABA85C724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5757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57659-A2C7-4135-8F43-391443318635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864CB-DC6D-4DEF-A686-3ABA85C724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4495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57659-A2C7-4135-8F43-391443318635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864CB-DC6D-4DEF-A686-3ABA85C724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3098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57659-A2C7-4135-8F43-391443318635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864CB-DC6D-4DEF-A686-3ABA85C724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347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57659-A2C7-4135-8F43-391443318635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864CB-DC6D-4DEF-A686-3ABA85C724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518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57659-A2C7-4135-8F43-391443318635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864CB-DC6D-4DEF-A686-3ABA85C724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1147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57659-A2C7-4135-8F43-391443318635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864CB-DC6D-4DEF-A686-3ABA85C724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8657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57659-A2C7-4135-8F43-391443318635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864CB-DC6D-4DEF-A686-3ABA85C724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2799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57659-A2C7-4135-8F43-391443318635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864CB-DC6D-4DEF-A686-3ABA85C724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5343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57659-A2C7-4135-8F43-391443318635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864CB-DC6D-4DEF-A686-3ABA85C724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75207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57659-A2C7-4135-8F43-391443318635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864CB-DC6D-4DEF-A686-3ABA85C724AD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0806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57659-A2C7-4135-8F43-391443318635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864CB-DC6D-4DEF-A686-3ABA85C724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89459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57659-A2C7-4135-8F43-391443318635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864CB-DC6D-4DEF-A686-3ABA85C724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5635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57659-A2C7-4135-8F43-391443318635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864CB-DC6D-4DEF-A686-3ABA85C724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8152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57659-A2C7-4135-8F43-391443318635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864CB-DC6D-4DEF-A686-3ABA85C724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24310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57659-A2C7-4135-8F43-391443318635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864CB-DC6D-4DEF-A686-3ABA85C724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2330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57659-A2C7-4135-8F43-391443318635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864CB-DC6D-4DEF-A686-3ABA85C724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23879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7C0F9C-A271-537E-1909-23AE361AEF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Sistemas Operacionais</a:t>
            </a:r>
            <a:br>
              <a:rPr lang="pt-BR" dirty="0"/>
            </a:br>
            <a:r>
              <a:rPr lang="pt-BR" dirty="0"/>
              <a:t>e</a:t>
            </a:r>
            <a:br>
              <a:rPr lang="pt-BR" dirty="0"/>
            </a:br>
            <a:r>
              <a:rPr lang="pt-BR" dirty="0"/>
              <a:t>Aplicativos de Escritório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61C110-BA54-F90F-9D24-CFD81434C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4206722"/>
            <a:ext cx="9001462" cy="1655762"/>
          </a:xfrm>
        </p:spPr>
        <p:txBody>
          <a:bodyPr/>
          <a:lstStyle/>
          <a:p>
            <a:r>
              <a:rPr lang="pt-BR" dirty="0"/>
              <a:t>Quem? Quando? Prós e Contras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FB6861D-E672-01B9-F05D-6BDBD9F9F1C6}"/>
              </a:ext>
            </a:extLst>
          </p:cNvPr>
          <p:cNvSpPr txBox="1"/>
          <p:nvPr/>
        </p:nvSpPr>
        <p:spPr>
          <a:xfrm>
            <a:off x="1595269" y="6374577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Miguel Ananias Alves – INFO D</a:t>
            </a:r>
          </a:p>
        </p:txBody>
      </p:sp>
    </p:spTree>
    <p:extLst>
      <p:ext uri="{BB962C8B-B14F-4D97-AF65-F5344CB8AC3E}">
        <p14:creationId xmlns:p14="http://schemas.microsoft.com/office/powerpoint/2010/main" val="1645455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C4AB6B-7F70-002A-52C9-788F2F639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1" cy="1326321"/>
          </a:xfrm>
        </p:spPr>
        <p:txBody>
          <a:bodyPr/>
          <a:lstStyle/>
          <a:p>
            <a:r>
              <a:rPr lang="pt-BR" dirty="0" err="1"/>
              <a:t>unix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CA7C10-837F-2425-16CA-EBD688D49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326321"/>
            <a:ext cx="10353762" cy="49112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	O Unix foi criado em </a:t>
            </a:r>
            <a:r>
              <a:rPr lang="pt-BR" b="1" dirty="0"/>
              <a:t>1969</a:t>
            </a:r>
            <a:r>
              <a:rPr lang="pt-BR" dirty="0"/>
              <a:t> por Ken Thompson e Dennis Ritchie nos laboratórios da AT&amp;T Bell </a:t>
            </a:r>
            <a:r>
              <a:rPr lang="pt-BR" dirty="0" err="1"/>
              <a:t>Labs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Seu kernel é tradicionalmente </a:t>
            </a:r>
            <a:r>
              <a:rPr lang="pt-BR" b="1" dirty="0"/>
              <a:t>monolítico</a:t>
            </a:r>
            <a:r>
              <a:rPr lang="pt-BR" dirty="0"/>
              <a:t>, conhecido pela estabilidade e segurança. Serviu de base para o desenvolvimento do Linux e do </a:t>
            </a:r>
            <a:r>
              <a:rPr lang="pt-BR" dirty="0" err="1"/>
              <a:t>macOS</a:t>
            </a:r>
            <a:r>
              <a:rPr lang="pt-BR" dirty="0"/>
              <a:t>.</a:t>
            </a:r>
          </a:p>
          <a:p>
            <a:pPr marL="0" indent="0">
              <a:buNone/>
            </a:pPr>
            <a:r>
              <a:rPr lang="pt-BR" b="1" i="1" dirty="0"/>
              <a:t>Prós</a:t>
            </a:r>
          </a:p>
          <a:p>
            <a:r>
              <a:rPr lang="pt-BR" dirty="0"/>
              <a:t>Muito estável</a:t>
            </a:r>
          </a:p>
          <a:p>
            <a:r>
              <a:rPr lang="pt-BR" dirty="0"/>
              <a:t>Seguro</a:t>
            </a:r>
          </a:p>
          <a:p>
            <a:r>
              <a:rPr lang="pt-BR" dirty="0"/>
              <a:t>Base para outros sistemas modernos</a:t>
            </a:r>
          </a:p>
          <a:p>
            <a:pPr marL="0" indent="0">
              <a:buNone/>
            </a:pPr>
            <a:r>
              <a:rPr lang="pt-BR" b="1" i="1" dirty="0"/>
              <a:t>Contras</a:t>
            </a:r>
          </a:p>
          <a:p>
            <a:r>
              <a:rPr lang="pt-BR" dirty="0"/>
              <a:t>Pouco comum em PCs domésticos</a:t>
            </a:r>
          </a:p>
          <a:p>
            <a:r>
              <a:rPr lang="pt-BR" dirty="0"/>
              <a:t>Algumas versões são pagas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19B725F-AEC4-9C47-8FA1-4F7B7AC5A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821" y="2805193"/>
            <a:ext cx="5052736" cy="343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62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1E01E6-CAD6-C50B-957C-5F598415A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1" cy="1326321"/>
          </a:xfrm>
        </p:spPr>
        <p:txBody>
          <a:bodyPr/>
          <a:lstStyle/>
          <a:p>
            <a:r>
              <a:rPr lang="pt-BR" dirty="0" err="1"/>
              <a:t>MS-dos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C6FE99-1265-135D-C088-1935029CF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326321"/>
            <a:ext cx="10353762" cy="492260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dirty="0"/>
              <a:t>	</a:t>
            </a:r>
            <a:r>
              <a:rPr lang="pt-BR" sz="2200" dirty="0"/>
              <a:t>O MS-DOS foi lançado em </a:t>
            </a:r>
            <a:r>
              <a:rPr lang="pt-BR" sz="2200" b="1" dirty="0"/>
              <a:t>1981</a:t>
            </a:r>
            <a:r>
              <a:rPr lang="pt-BR" sz="2200" dirty="0"/>
              <a:t> pela Microsoft.</a:t>
            </a:r>
            <a:br>
              <a:rPr lang="pt-BR" sz="2200" dirty="0"/>
            </a:br>
            <a:r>
              <a:rPr lang="pt-BR" sz="2200" dirty="0"/>
              <a:t>É um sistema baseado em linha de comando e não possui kernel multitarefa moderno, funcionando em modo </a:t>
            </a:r>
            <a:r>
              <a:rPr lang="pt-BR" sz="2200" b="1" dirty="0"/>
              <a:t>monotarefa</a:t>
            </a:r>
            <a:r>
              <a:rPr lang="pt-BR" sz="2200" dirty="0"/>
              <a:t>. Foi muito utilizado nos anos 80 e início dos 90.</a:t>
            </a:r>
          </a:p>
          <a:p>
            <a:pPr marL="0" indent="0">
              <a:buNone/>
            </a:pPr>
            <a:r>
              <a:rPr lang="pt-BR" sz="2200" b="1" i="1" dirty="0"/>
              <a:t>Prós</a:t>
            </a:r>
          </a:p>
          <a:p>
            <a:r>
              <a:rPr lang="pt-BR" sz="2200" dirty="0"/>
              <a:t>Muito leve</a:t>
            </a:r>
          </a:p>
          <a:p>
            <a:r>
              <a:rPr lang="pt-BR" sz="2200" dirty="0"/>
              <a:t>Simples</a:t>
            </a:r>
          </a:p>
          <a:p>
            <a:pPr marL="0" indent="0">
              <a:buNone/>
            </a:pPr>
            <a:r>
              <a:rPr lang="pt-BR" sz="2200" b="1" i="1" dirty="0"/>
              <a:t>Contras</a:t>
            </a:r>
          </a:p>
          <a:p>
            <a:r>
              <a:rPr lang="pt-BR" sz="2200" dirty="0"/>
              <a:t>Sem interface gráfica</a:t>
            </a:r>
          </a:p>
          <a:p>
            <a:r>
              <a:rPr lang="pt-BR" sz="2200" dirty="0"/>
              <a:t>Não é multitarefa</a:t>
            </a:r>
          </a:p>
          <a:p>
            <a:r>
              <a:rPr lang="pt-BR" sz="2200" dirty="0"/>
              <a:t>Ultrapassado</a:t>
            </a:r>
          </a:p>
          <a:p>
            <a:endParaRPr lang="pt-B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EE4BB48-9B01-6211-3923-203389916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4059" y="2652642"/>
            <a:ext cx="5874147" cy="3596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5394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489A9-9EAC-3CF5-312D-2AE9DDF93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240"/>
            <a:ext cx="10515600" cy="914400"/>
          </a:xfrm>
        </p:spPr>
        <p:txBody>
          <a:bodyPr>
            <a:normAutofit/>
          </a:bodyPr>
          <a:lstStyle/>
          <a:p>
            <a:r>
              <a:rPr lang="pt-BR" b="1" dirty="0"/>
              <a:t>Windows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406AA7-F643-0941-22A8-7616F3756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376"/>
            <a:ext cx="10515600" cy="573712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pt-BR" dirty="0"/>
              <a:t>	</a:t>
            </a:r>
            <a:r>
              <a:rPr lang="pt-BR" sz="2900" dirty="0"/>
              <a:t>O Windows é um sistema operacional desenvolvido pela Microsoft, fundada por Bill Gates e Paul Allen. Sua primeira versão foi lançada em </a:t>
            </a:r>
            <a:r>
              <a:rPr lang="pt-BR" sz="2900" b="1" dirty="0"/>
              <a:t>1985</a:t>
            </a:r>
            <a:r>
              <a:rPr lang="pt-BR" sz="2900" dirty="0"/>
              <a:t>.</a:t>
            </a:r>
            <a:br>
              <a:rPr lang="pt-BR" sz="2900" dirty="0"/>
            </a:br>
            <a:r>
              <a:rPr lang="pt-BR" sz="2900" dirty="0"/>
              <a:t>Ele utiliza o </a:t>
            </a:r>
            <a:r>
              <a:rPr lang="pt-BR" sz="2900" b="1" dirty="0"/>
              <a:t>kernel Windows NT</a:t>
            </a:r>
            <a:r>
              <a:rPr lang="pt-BR" sz="2900" dirty="0"/>
              <a:t>, que é do tipo </a:t>
            </a:r>
            <a:r>
              <a:rPr lang="pt-BR" sz="2900" b="1" dirty="0"/>
              <a:t>híbrido</a:t>
            </a:r>
            <a:r>
              <a:rPr lang="pt-BR" sz="2900" dirty="0"/>
              <a:t>, combinando características de </a:t>
            </a:r>
            <a:r>
              <a:rPr lang="pt-BR" sz="2900" dirty="0" err="1"/>
              <a:t>microkernel</a:t>
            </a:r>
            <a:r>
              <a:rPr lang="pt-BR" sz="2900" dirty="0"/>
              <a:t> e monolítico. É o sistema mais usado em computadores pessoais no mundo.</a:t>
            </a:r>
          </a:p>
          <a:p>
            <a:pPr marL="0" indent="0">
              <a:buNone/>
            </a:pPr>
            <a:endParaRPr lang="pt-BR" sz="2900" dirty="0"/>
          </a:p>
          <a:p>
            <a:pPr marL="0" indent="0">
              <a:buNone/>
            </a:pPr>
            <a:r>
              <a:rPr lang="pt-BR" sz="2900" b="1" i="1" dirty="0"/>
              <a:t> Prós</a:t>
            </a:r>
          </a:p>
          <a:p>
            <a:r>
              <a:rPr lang="pt-BR" sz="2900" dirty="0"/>
              <a:t>Alta compatibilidade com programas e jogos</a:t>
            </a:r>
          </a:p>
          <a:p>
            <a:r>
              <a:rPr lang="pt-BR" sz="2900" dirty="0"/>
              <a:t>Kernel estável e com suporte a multitarefa</a:t>
            </a:r>
          </a:p>
          <a:p>
            <a:r>
              <a:rPr lang="pt-BR" sz="2900" dirty="0"/>
              <a:t>Fácil de usar</a:t>
            </a:r>
          </a:p>
          <a:p>
            <a:r>
              <a:rPr lang="pt-BR" sz="2900" dirty="0"/>
              <a:t>Muito utilizado em empresas</a:t>
            </a:r>
          </a:p>
          <a:p>
            <a:pPr marL="0" indent="0">
              <a:buNone/>
            </a:pPr>
            <a:r>
              <a:rPr lang="pt-BR" sz="2900" b="1" i="1" dirty="0"/>
              <a:t>Contras</a:t>
            </a:r>
          </a:p>
          <a:p>
            <a:r>
              <a:rPr lang="pt-BR" sz="2900" dirty="0"/>
              <a:t>Sistema pago</a:t>
            </a:r>
          </a:p>
          <a:p>
            <a:r>
              <a:rPr lang="pt-BR" sz="2900" dirty="0"/>
              <a:t>Kernel fechado (não é open </a:t>
            </a:r>
            <a:r>
              <a:rPr lang="pt-BR" sz="2900" dirty="0" err="1"/>
              <a:t>source</a:t>
            </a:r>
            <a:r>
              <a:rPr lang="pt-BR" sz="2900" dirty="0"/>
              <a:t>)</a:t>
            </a:r>
          </a:p>
          <a:p>
            <a:r>
              <a:rPr lang="pt-BR" sz="2900" dirty="0"/>
              <a:t>Mais visado por vírus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D8DF585-712D-FD2C-018B-3069D7A7C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439" y="3236645"/>
            <a:ext cx="4912361" cy="351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57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59C9E3-826A-5189-574B-81655F595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58994"/>
            <a:ext cx="10353761" cy="1326321"/>
          </a:xfrm>
        </p:spPr>
        <p:txBody>
          <a:bodyPr/>
          <a:lstStyle/>
          <a:p>
            <a:r>
              <a:rPr lang="pt-BR" dirty="0"/>
              <a:t>Linux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5450CB-9C8A-A0D9-9F8E-943464FF4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3" y="1385315"/>
            <a:ext cx="10353762" cy="520721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2200" dirty="0"/>
              <a:t>	O Linux é um sistema operacional de código aberto criado por Linus Torvalds em </a:t>
            </a:r>
            <a:r>
              <a:rPr lang="pt-BR" sz="2200" b="1" dirty="0"/>
              <a:t>1991</a:t>
            </a:r>
            <a:r>
              <a:rPr lang="pt-BR" sz="2200" dirty="0"/>
              <a:t>.</a:t>
            </a:r>
            <a:br>
              <a:rPr lang="pt-BR" sz="2200" dirty="0"/>
            </a:br>
            <a:r>
              <a:rPr lang="pt-BR" sz="2200" dirty="0"/>
              <a:t>Ele utiliza o </a:t>
            </a:r>
            <a:r>
              <a:rPr lang="pt-BR" sz="2200" b="1" dirty="0"/>
              <a:t>kernel Linux</a:t>
            </a:r>
            <a:r>
              <a:rPr lang="pt-BR" sz="2200" dirty="0"/>
              <a:t>, que é </a:t>
            </a:r>
            <a:r>
              <a:rPr lang="pt-BR" sz="2200" b="1" dirty="0"/>
              <a:t>monolítico modular</a:t>
            </a:r>
            <a:r>
              <a:rPr lang="pt-BR" sz="2200" dirty="0"/>
              <a:t>, permitindo alto desempenho e personalização. É amplamente usado em servidores, supercomputadores e também em computadores pessoais.</a:t>
            </a:r>
          </a:p>
          <a:p>
            <a:pPr marL="0" indent="0">
              <a:buNone/>
            </a:pPr>
            <a:r>
              <a:rPr lang="pt-BR" sz="2200" b="1" i="1" dirty="0"/>
              <a:t>Prós</a:t>
            </a:r>
          </a:p>
          <a:p>
            <a:r>
              <a:rPr lang="pt-BR" sz="2200" dirty="0"/>
              <a:t>Gratuito</a:t>
            </a:r>
          </a:p>
          <a:p>
            <a:r>
              <a:rPr lang="pt-BR" sz="2200" dirty="0"/>
              <a:t>Kernel open </a:t>
            </a:r>
            <a:r>
              <a:rPr lang="pt-BR" sz="2200" dirty="0" err="1"/>
              <a:t>source</a:t>
            </a:r>
            <a:endParaRPr lang="pt-BR" sz="2200" dirty="0"/>
          </a:p>
          <a:p>
            <a:r>
              <a:rPr lang="pt-BR" sz="2200" dirty="0"/>
              <a:t>Muito estável e seguro</a:t>
            </a:r>
          </a:p>
          <a:p>
            <a:r>
              <a:rPr lang="pt-BR" sz="2200" dirty="0"/>
              <a:t>Excelente desempenho em servidores</a:t>
            </a:r>
          </a:p>
          <a:p>
            <a:pPr marL="0" indent="0">
              <a:buNone/>
            </a:pPr>
            <a:r>
              <a:rPr lang="pt-BR" sz="2200" b="1" i="1" dirty="0"/>
              <a:t>Contras</a:t>
            </a:r>
          </a:p>
          <a:p>
            <a:r>
              <a:rPr lang="pt-BR" sz="2200" dirty="0"/>
              <a:t>Pode exigir mais conhecimento técnico</a:t>
            </a:r>
          </a:p>
          <a:p>
            <a:r>
              <a:rPr lang="pt-BR" sz="2200" dirty="0"/>
              <a:t>Nem todos os softwares comerciais têm suporte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1427C33-32C6-2A35-104E-C24880F82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711636"/>
            <a:ext cx="5182207" cy="276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647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8B2529-11BC-BD84-FA23-BD544D3B9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0"/>
            <a:ext cx="10353761" cy="1326321"/>
          </a:xfrm>
        </p:spPr>
        <p:txBody>
          <a:bodyPr/>
          <a:lstStyle/>
          <a:p>
            <a:r>
              <a:rPr lang="pt-BR" dirty="0" err="1"/>
              <a:t>Mac-os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738BDF-E2C7-784F-3B7A-13491B092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5" y="1001856"/>
            <a:ext cx="10353762" cy="5856144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pt-BR" dirty="0"/>
              <a:t>	</a:t>
            </a:r>
            <a:r>
              <a:rPr lang="pt-BR" sz="5000" dirty="0"/>
              <a:t>O </a:t>
            </a:r>
            <a:r>
              <a:rPr lang="pt-BR" sz="5000" dirty="0" err="1"/>
              <a:t>macOS</a:t>
            </a:r>
            <a:r>
              <a:rPr lang="pt-BR" sz="5000" dirty="0"/>
              <a:t> é o sistema operacional da Apple Inc. para computadores Mac. Sua versão moderna (Mac OS X) foi lançada em </a:t>
            </a:r>
            <a:r>
              <a:rPr lang="pt-BR" sz="5000" b="1" dirty="0"/>
              <a:t>2001</a:t>
            </a:r>
            <a:r>
              <a:rPr lang="pt-BR" sz="5000" dirty="0"/>
              <a:t>.</a:t>
            </a:r>
            <a:br>
              <a:rPr lang="pt-BR" sz="5000" dirty="0"/>
            </a:br>
            <a:r>
              <a:rPr lang="pt-BR" sz="5000" dirty="0"/>
              <a:t>É baseado no sistema </a:t>
            </a:r>
            <a:r>
              <a:rPr lang="pt-BR" sz="5000" dirty="0" err="1"/>
              <a:t>NeXTSTEP</a:t>
            </a:r>
            <a:r>
              <a:rPr lang="pt-BR" sz="5000" dirty="0"/>
              <a:t>, desenvolvido por Steve Jobs, e utiliza o </a:t>
            </a:r>
            <a:r>
              <a:rPr lang="pt-BR" sz="5000" b="1" dirty="0"/>
              <a:t>kernel XNU</a:t>
            </a:r>
            <a:r>
              <a:rPr lang="pt-BR" sz="5000" dirty="0"/>
              <a:t>, que é </a:t>
            </a:r>
            <a:r>
              <a:rPr lang="pt-BR" sz="5000" b="1" dirty="0"/>
              <a:t>híbrido</a:t>
            </a:r>
            <a:r>
              <a:rPr lang="pt-BR" sz="5000" dirty="0"/>
              <a:t> (baseado em Mach + BSD). É conhecido pela estabilidade e integração com o hardware da Apple.</a:t>
            </a:r>
          </a:p>
          <a:p>
            <a:pPr marL="0" indent="0">
              <a:buNone/>
            </a:pPr>
            <a:r>
              <a:rPr lang="pt-BR" sz="5000" b="1" i="1" dirty="0"/>
              <a:t>Prós</a:t>
            </a:r>
          </a:p>
          <a:p>
            <a:r>
              <a:rPr lang="pt-BR" sz="5000" dirty="0"/>
              <a:t>Muito estável</a:t>
            </a:r>
          </a:p>
          <a:p>
            <a:r>
              <a:rPr lang="pt-BR" sz="5000" dirty="0"/>
              <a:t>Ótima integração com hardware</a:t>
            </a:r>
          </a:p>
          <a:p>
            <a:r>
              <a:rPr lang="pt-BR" sz="5000" dirty="0"/>
              <a:t>Seguro</a:t>
            </a:r>
          </a:p>
          <a:p>
            <a:r>
              <a:rPr lang="pt-BR" sz="5000" dirty="0"/>
              <a:t>Interface elegante</a:t>
            </a:r>
          </a:p>
          <a:p>
            <a:pPr marL="0" indent="0">
              <a:buNone/>
            </a:pPr>
            <a:r>
              <a:rPr lang="pt-BR" sz="5000" b="1" i="1" dirty="0"/>
              <a:t>Contras</a:t>
            </a:r>
          </a:p>
          <a:p>
            <a:r>
              <a:rPr lang="pt-BR" sz="5000" dirty="0"/>
              <a:t>Sistema fechado</a:t>
            </a:r>
          </a:p>
          <a:p>
            <a:r>
              <a:rPr lang="pt-BR" sz="5000" dirty="0"/>
              <a:t>Funciona apenas em dispositivos Apple</a:t>
            </a:r>
          </a:p>
          <a:p>
            <a:r>
              <a:rPr lang="pt-BR" sz="5000" dirty="0"/>
              <a:t>Alto custo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767E9A4-9427-A3B1-9F92-615A32C86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303" y="2328177"/>
            <a:ext cx="5171555" cy="3527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56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A8970-0430-D567-C599-AB85065C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1" cy="1326321"/>
          </a:xfrm>
        </p:spPr>
        <p:txBody>
          <a:bodyPr/>
          <a:lstStyle/>
          <a:p>
            <a:r>
              <a:rPr lang="pt-BR" dirty="0" err="1"/>
              <a:t>ios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006D46-CBCD-278E-D719-79AB9C1BF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326320"/>
            <a:ext cx="10353762" cy="50597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	O iOS foi lançado em </a:t>
            </a:r>
            <a:r>
              <a:rPr lang="pt-BR" b="1" dirty="0"/>
              <a:t>2007</a:t>
            </a:r>
            <a:r>
              <a:rPr lang="pt-BR" dirty="0"/>
              <a:t> pela Apple Inc. para o iPhone.</a:t>
            </a:r>
            <a:br>
              <a:rPr lang="pt-BR" dirty="0"/>
            </a:br>
            <a:r>
              <a:rPr lang="pt-BR" dirty="0"/>
              <a:t>Utiliza o </a:t>
            </a:r>
            <a:r>
              <a:rPr lang="pt-BR" b="1" dirty="0"/>
              <a:t>kernel XNU</a:t>
            </a:r>
            <a:r>
              <a:rPr lang="pt-BR" dirty="0"/>
              <a:t>, o mesmo do </a:t>
            </a:r>
            <a:r>
              <a:rPr lang="pt-BR" dirty="0" err="1"/>
              <a:t>macOS</a:t>
            </a:r>
            <a:r>
              <a:rPr lang="pt-BR" dirty="0"/>
              <a:t>, otimizado para dispositivos móveis, oferecendo alto desempenho e segurança.</a:t>
            </a:r>
          </a:p>
          <a:p>
            <a:pPr marL="0" indent="0">
              <a:buNone/>
            </a:pPr>
            <a:r>
              <a:rPr lang="pt-BR" b="1" i="1" dirty="0"/>
              <a:t>Prós</a:t>
            </a:r>
          </a:p>
          <a:p>
            <a:r>
              <a:rPr lang="pt-BR" dirty="0"/>
              <a:t>Muito seguro</a:t>
            </a:r>
          </a:p>
          <a:p>
            <a:r>
              <a:rPr lang="pt-BR" dirty="0"/>
              <a:t>Ótima otimização</a:t>
            </a:r>
          </a:p>
          <a:p>
            <a:r>
              <a:rPr lang="pt-BR" dirty="0"/>
              <a:t>Atualizações frequentes</a:t>
            </a:r>
          </a:p>
          <a:p>
            <a:pPr marL="0" indent="0">
              <a:buNone/>
            </a:pPr>
            <a:r>
              <a:rPr lang="pt-BR" b="1" i="1" dirty="0"/>
              <a:t>Contras</a:t>
            </a:r>
          </a:p>
          <a:p>
            <a:r>
              <a:rPr lang="pt-BR" dirty="0"/>
              <a:t>Sistema fechado</a:t>
            </a:r>
          </a:p>
          <a:p>
            <a:r>
              <a:rPr lang="pt-BR" dirty="0"/>
              <a:t>Funciona apenas em aparelhos Apple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63CBF37-216F-2A7B-9128-7B9A8D381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781320"/>
            <a:ext cx="5182205" cy="360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659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38C5FB-F924-A243-BF19-C8024BE99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1" cy="1326321"/>
          </a:xfrm>
        </p:spPr>
        <p:txBody>
          <a:bodyPr/>
          <a:lstStyle/>
          <a:p>
            <a:r>
              <a:rPr lang="pt-BR" dirty="0" err="1"/>
              <a:t>android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B3CA8D-62FB-49B0-D534-C6A9289A2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326320"/>
            <a:ext cx="10353762" cy="5531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	O Android foi lançado em </a:t>
            </a:r>
            <a:r>
              <a:rPr lang="pt-BR" b="1" dirty="0"/>
              <a:t>2008</a:t>
            </a:r>
            <a:r>
              <a:rPr lang="pt-BR" dirty="0"/>
              <a:t>, inicialmente desenvolvido pela Android Inc., fundada por Andy Rubin, e posteriormente adquirida pelo Google.</a:t>
            </a:r>
            <a:br>
              <a:rPr lang="pt-BR" dirty="0"/>
            </a:br>
            <a:r>
              <a:rPr lang="pt-BR" dirty="0"/>
              <a:t>Ele é baseado no </a:t>
            </a:r>
            <a:r>
              <a:rPr lang="pt-BR" b="1" dirty="0"/>
              <a:t>kernel Linux</a:t>
            </a:r>
            <a:r>
              <a:rPr lang="pt-BR" dirty="0"/>
              <a:t>, adaptado para dispositivos móveis, e é atualmente o sistema mais utilizado em smartphones no mundo.</a:t>
            </a:r>
          </a:p>
          <a:p>
            <a:pPr marL="0" indent="0">
              <a:buNone/>
            </a:pPr>
            <a:r>
              <a:rPr lang="pt-BR" b="1" i="1" dirty="0"/>
              <a:t>Prós</a:t>
            </a:r>
          </a:p>
          <a:p>
            <a:r>
              <a:rPr lang="pt-BR" dirty="0"/>
              <a:t>Base Linux (estável e segura)</a:t>
            </a:r>
          </a:p>
          <a:p>
            <a:r>
              <a:rPr lang="pt-BR" dirty="0"/>
              <a:t>Muito personalizável</a:t>
            </a:r>
          </a:p>
          <a:p>
            <a:r>
              <a:rPr lang="pt-BR" dirty="0"/>
              <a:t>Grande variedade de aparelhos</a:t>
            </a:r>
          </a:p>
          <a:p>
            <a:pPr marL="0" indent="0">
              <a:buNone/>
            </a:pPr>
            <a:r>
              <a:rPr lang="pt-BR" b="1" i="1" dirty="0"/>
              <a:t>Contras</a:t>
            </a:r>
          </a:p>
          <a:p>
            <a:r>
              <a:rPr lang="pt-BR" dirty="0"/>
              <a:t>Fragmentação entre fabricantes</a:t>
            </a:r>
          </a:p>
          <a:p>
            <a:r>
              <a:rPr lang="pt-BR" dirty="0"/>
              <a:t>Atualizações podem demorar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9B6C214-A43F-3BAA-52F0-61506A063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2" y="3026389"/>
            <a:ext cx="5807303" cy="356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011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8D0CC8D-7AEB-00FA-F05B-945189966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Aplicativos de escritórios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4D7D6DB-72CD-516C-BC7A-D9B5DD7B5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4296" y="3429000"/>
            <a:ext cx="9733512" cy="1500187"/>
          </a:xfrm>
        </p:spPr>
        <p:txBody>
          <a:bodyPr/>
          <a:lstStyle/>
          <a:p>
            <a:r>
              <a:rPr lang="pt-BR" dirty="0"/>
              <a:t>Pacote Office </a:t>
            </a:r>
            <a:r>
              <a:rPr lang="pt-BR" dirty="0" err="1"/>
              <a:t>vs</a:t>
            </a:r>
            <a:r>
              <a:rPr lang="pt-BR" dirty="0"/>
              <a:t> Google</a:t>
            </a:r>
          </a:p>
        </p:txBody>
      </p:sp>
    </p:spTree>
    <p:extLst>
      <p:ext uri="{BB962C8B-B14F-4D97-AF65-F5344CB8AC3E}">
        <p14:creationId xmlns:p14="http://schemas.microsoft.com/office/powerpoint/2010/main" val="139578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9C13D7-C999-FC71-FE99-BE880D601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90" y="0"/>
            <a:ext cx="10353761" cy="1326321"/>
          </a:xfrm>
        </p:spPr>
        <p:txBody>
          <a:bodyPr/>
          <a:lstStyle/>
          <a:p>
            <a:r>
              <a:rPr lang="pt-BR" dirty="0"/>
              <a:t>Processadores de texto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CE16E579-FAEE-8807-3502-33C3613934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2471591"/>
              </p:ext>
            </p:extLst>
          </p:nvPr>
        </p:nvGraphicFramePr>
        <p:xfrm>
          <a:off x="925654" y="1326321"/>
          <a:ext cx="10353156" cy="4475695"/>
        </p:xfrm>
        <a:graphic>
          <a:graphicData uri="http://schemas.openxmlformats.org/drawingml/2006/table">
            <a:tbl>
              <a:tblPr/>
              <a:tblGrid>
                <a:gridCol w="3451052">
                  <a:extLst>
                    <a:ext uri="{9D8B030D-6E8A-4147-A177-3AD203B41FA5}">
                      <a16:colId xmlns:a16="http://schemas.microsoft.com/office/drawing/2014/main" val="1607361421"/>
                    </a:ext>
                  </a:extLst>
                </a:gridCol>
                <a:gridCol w="3451052">
                  <a:extLst>
                    <a:ext uri="{9D8B030D-6E8A-4147-A177-3AD203B41FA5}">
                      <a16:colId xmlns:a16="http://schemas.microsoft.com/office/drawing/2014/main" val="272633898"/>
                    </a:ext>
                  </a:extLst>
                </a:gridCol>
                <a:gridCol w="3451052">
                  <a:extLst>
                    <a:ext uri="{9D8B030D-6E8A-4147-A177-3AD203B41FA5}">
                      <a16:colId xmlns:a16="http://schemas.microsoft.com/office/drawing/2014/main" val="1691607473"/>
                    </a:ext>
                  </a:extLst>
                </a:gridCol>
              </a:tblGrid>
              <a:tr h="4358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Critério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Microsoft Word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Google </a:t>
                      </a:r>
                      <a:r>
                        <a:rPr lang="pt-BR" b="1" dirty="0" err="1"/>
                        <a:t>Docs</a:t>
                      </a:r>
                      <a:endParaRPr lang="pt-B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007919"/>
                  </a:ext>
                </a:extLst>
              </a:tr>
              <a:tr h="553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i="1" dirty="0"/>
                        <a:t>Custo</a:t>
                      </a:r>
                      <a:endParaRPr lang="pt-BR" i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Licença ou assinatura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Grátis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100629"/>
                  </a:ext>
                </a:extLst>
              </a:tr>
              <a:tr h="4358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i="1"/>
                        <a:t>Colaboração em tempo real</a:t>
                      </a:r>
                      <a:endParaRPr lang="pt-BR" i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Sim (menos fluido)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Simples e imediato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930611"/>
                  </a:ext>
                </a:extLst>
              </a:tr>
              <a:tr h="762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i="1"/>
                        <a:t>Funciona offline</a:t>
                      </a:r>
                      <a:endParaRPr lang="pt-BR" i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Sim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n-NO" dirty="0"/>
                        <a:t>Precisa ativar (Offline no Drive)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0223820"/>
                  </a:ext>
                </a:extLst>
              </a:tr>
              <a:tr h="762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i="1"/>
                        <a:t>Ferramentas avançadas</a:t>
                      </a:r>
                      <a:endParaRPr lang="pt-BR" i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Formatação, estilos, referências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Simples e suficientes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930404"/>
                  </a:ext>
                </a:extLst>
              </a:tr>
              <a:tr h="762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i="1"/>
                        <a:t>Salvar/armazenar</a:t>
                      </a:r>
                      <a:endParaRPr lang="pt-BR" i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No PC ou OneDrive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Automaticamente no Google Drive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984260"/>
                  </a:ext>
                </a:extLst>
              </a:tr>
              <a:tr h="762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i="1" dirty="0"/>
                        <a:t>Melhor para</a:t>
                      </a:r>
                      <a:endParaRPr lang="pt-BR" i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Documentos longos e profissionais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Trabalhos rápidos e colaborativos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6311660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CD668F2C-B25A-1210-E401-7100DA25211F}"/>
              </a:ext>
            </a:extLst>
          </p:cNvPr>
          <p:cNvSpPr txBox="1"/>
          <p:nvPr/>
        </p:nvSpPr>
        <p:spPr>
          <a:xfrm>
            <a:off x="913190" y="5802016"/>
            <a:ext cx="107110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/>
              <a:t>Word é mais completo para formatação profissional; </a:t>
            </a:r>
          </a:p>
          <a:p>
            <a:r>
              <a:rPr lang="pt-BR" i="1" dirty="0"/>
              <a:t>Google </a:t>
            </a:r>
            <a:r>
              <a:rPr lang="pt-BR" i="1" dirty="0" err="1"/>
              <a:t>Docs</a:t>
            </a:r>
            <a:r>
              <a:rPr lang="pt-BR" i="1" dirty="0"/>
              <a:t> é mais fácil de usar e colaborativo.</a:t>
            </a:r>
          </a:p>
        </p:txBody>
      </p:sp>
    </p:spTree>
    <p:extLst>
      <p:ext uri="{BB962C8B-B14F-4D97-AF65-F5344CB8AC3E}">
        <p14:creationId xmlns:p14="http://schemas.microsoft.com/office/powerpoint/2010/main" val="4202275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0FDB5-3821-D918-C5D8-83F4958FA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69035"/>
            <a:ext cx="10353761" cy="1326321"/>
          </a:xfrm>
        </p:spPr>
        <p:txBody>
          <a:bodyPr/>
          <a:lstStyle/>
          <a:p>
            <a:r>
              <a:rPr lang="pt-BR" dirty="0" err="1"/>
              <a:t>microsoft</a:t>
            </a:r>
            <a:r>
              <a:rPr lang="pt-BR" dirty="0"/>
              <a:t> Word / google </a:t>
            </a:r>
            <a:r>
              <a:rPr lang="pt-BR" dirty="0" err="1"/>
              <a:t>docs</a:t>
            </a:r>
            <a:endParaRPr lang="pt-BR" dirty="0"/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B2ABBAD4-A335-965E-F97C-54FE7BE682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9119" y="1595356"/>
            <a:ext cx="4350064" cy="4122559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44A54397-C359-8290-F16C-45AC6F166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2817" y="1595356"/>
            <a:ext cx="4350064" cy="4122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5688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B786E6-F950-2F8F-9F43-4688843C5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556" y="0"/>
            <a:ext cx="10353761" cy="1326321"/>
          </a:xfrm>
        </p:spPr>
        <p:txBody>
          <a:bodyPr/>
          <a:lstStyle/>
          <a:p>
            <a:r>
              <a:rPr lang="pt-BR" dirty="0"/>
              <a:t>Planilhas Eletrônicas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359EFD6B-3A18-DCD0-BA0C-CAAF8F0EA0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5350612"/>
              </p:ext>
            </p:extLst>
          </p:nvPr>
        </p:nvGraphicFramePr>
        <p:xfrm>
          <a:off x="810556" y="1304715"/>
          <a:ext cx="10457211" cy="4617277"/>
        </p:xfrm>
        <a:graphic>
          <a:graphicData uri="http://schemas.openxmlformats.org/drawingml/2006/table">
            <a:tbl>
              <a:tblPr/>
              <a:tblGrid>
                <a:gridCol w="3485737">
                  <a:extLst>
                    <a:ext uri="{9D8B030D-6E8A-4147-A177-3AD203B41FA5}">
                      <a16:colId xmlns:a16="http://schemas.microsoft.com/office/drawing/2014/main" val="2757636252"/>
                    </a:ext>
                  </a:extLst>
                </a:gridCol>
                <a:gridCol w="3485737">
                  <a:extLst>
                    <a:ext uri="{9D8B030D-6E8A-4147-A177-3AD203B41FA5}">
                      <a16:colId xmlns:a16="http://schemas.microsoft.com/office/drawing/2014/main" val="154740353"/>
                    </a:ext>
                  </a:extLst>
                </a:gridCol>
                <a:gridCol w="3485737">
                  <a:extLst>
                    <a:ext uri="{9D8B030D-6E8A-4147-A177-3AD203B41FA5}">
                      <a16:colId xmlns:a16="http://schemas.microsoft.com/office/drawing/2014/main" val="798847842"/>
                    </a:ext>
                  </a:extLst>
                </a:gridCol>
              </a:tblGrid>
              <a:tr h="499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Critério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Microsoft Excel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Google Planilhas (Sheets)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661245"/>
                  </a:ext>
                </a:extLst>
              </a:tr>
              <a:tr h="499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Custo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Licença ou assinatura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Grátis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0273785"/>
                  </a:ext>
                </a:extLst>
              </a:tr>
              <a:tr h="873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Colaboração em tempo real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Sim (menos fluido)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Melhor colaboração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74165"/>
                  </a:ext>
                </a:extLst>
              </a:tr>
              <a:tr h="499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Funciona offline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Pode — via Drive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9957407"/>
                  </a:ext>
                </a:extLst>
              </a:tr>
              <a:tr h="873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Ferramentas avançadas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Macros, </a:t>
                      </a:r>
                      <a:r>
                        <a:rPr lang="pt-BR" dirty="0" err="1"/>
                        <a:t>pivot</a:t>
                      </a:r>
                      <a:r>
                        <a:rPr lang="pt-BR" dirty="0"/>
                        <a:t>, data tools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Suficiente para uso comum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19027"/>
                  </a:ext>
                </a:extLst>
              </a:tr>
              <a:tr h="499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Limite de dados</a:t>
                      </a:r>
                      <a:endParaRPr lang="pt-B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Altíssimo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Menor em grandes tabelas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5285206"/>
                  </a:ext>
                </a:extLst>
              </a:tr>
              <a:tr h="873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Melhor para</a:t>
                      </a:r>
                      <a:endParaRPr lang="pt-B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Análises complexas e dados grandes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Trabalho colaborativo e básico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585912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59A4662D-4E41-0B21-D620-01D910E785C4}"/>
              </a:ext>
            </a:extLst>
          </p:cNvPr>
          <p:cNvSpPr txBox="1"/>
          <p:nvPr/>
        </p:nvSpPr>
        <p:spPr>
          <a:xfrm>
            <a:off x="810556" y="5921993"/>
            <a:ext cx="103536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/>
              <a:t>Excel é ideal para análises complexas e profissionais;</a:t>
            </a:r>
          </a:p>
          <a:p>
            <a:r>
              <a:rPr lang="pt-BR" i="1" dirty="0" err="1"/>
              <a:t>Sheets</a:t>
            </a:r>
            <a:r>
              <a:rPr lang="pt-BR" i="1" dirty="0"/>
              <a:t> é ótimo para colaboração e uso simples.</a:t>
            </a:r>
          </a:p>
        </p:txBody>
      </p:sp>
    </p:spTree>
    <p:extLst>
      <p:ext uri="{BB962C8B-B14F-4D97-AF65-F5344CB8AC3E}">
        <p14:creationId xmlns:p14="http://schemas.microsoft.com/office/powerpoint/2010/main" val="2533989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6F9EA1-BEFC-8AB4-AA68-A65664081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Microsoft </a:t>
            </a:r>
            <a:r>
              <a:rPr lang="pt-BR" dirty="0" err="1"/>
              <a:t>excel</a:t>
            </a:r>
            <a:r>
              <a:rPr lang="pt-BR" dirty="0"/>
              <a:t> / google planilhas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658408E2-FB54-76B9-B5D0-2F1E79609D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8911" y="1935922"/>
            <a:ext cx="4041526" cy="353497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C6F5794-71A3-6137-9381-48FC4CBB7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563" y="1935920"/>
            <a:ext cx="4041528" cy="353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186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BA227D-E548-F9CA-E76B-36AC2C9F4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60" y="33849"/>
            <a:ext cx="10353761" cy="1326321"/>
          </a:xfrm>
        </p:spPr>
        <p:txBody>
          <a:bodyPr/>
          <a:lstStyle/>
          <a:p>
            <a:r>
              <a:rPr lang="pt-BR" dirty="0"/>
              <a:t>Apresentações gráficas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B007188D-37A4-A00A-BCA8-B3130AF6BC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620419"/>
              </p:ext>
            </p:extLst>
          </p:nvPr>
        </p:nvGraphicFramePr>
        <p:xfrm>
          <a:off x="781147" y="1360169"/>
          <a:ext cx="10629792" cy="4288465"/>
        </p:xfrm>
        <a:graphic>
          <a:graphicData uri="http://schemas.openxmlformats.org/drawingml/2006/table">
            <a:tbl>
              <a:tblPr/>
              <a:tblGrid>
                <a:gridCol w="3543264">
                  <a:extLst>
                    <a:ext uri="{9D8B030D-6E8A-4147-A177-3AD203B41FA5}">
                      <a16:colId xmlns:a16="http://schemas.microsoft.com/office/drawing/2014/main" val="1533193251"/>
                    </a:ext>
                  </a:extLst>
                </a:gridCol>
                <a:gridCol w="3543264">
                  <a:extLst>
                    <a:ext uri="{9D8B030D-6E8A-4147-A177-3AD203B41FA5}">
                      <a16:colId xmlns:a16="http://schemas.microsoft.com/office/drawing/2014/main" val="3834375554"/>
                    </a:ext>
                  </a:extLst>
                </a:gridCol>
                <a:gridCol w="3543264">
                  <a:extLst>
                    <a:ext uri="{9D8B030D-6E8A-4147-A177-3AD203B41FA5}">
                      <a16:colId xmlns:a16="http://schemas.microsoft.com/office/drawing/2014/main" val="2040683747"/>
                    </a:ext>
                  </a:extLst>
                </a:gridCol>
              </a:tblGrid>
              <a:tr h="504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Critério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PowerPoint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Google Slides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9466324"/>
                  </a:ext>
                </a:extLst>
              </a:tr>
              <a:tr h="504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Custo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Licença ou assinatura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Grátis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07993"/>
                  </a:ext>
                </a:extLst>
              </a:tr>
              <a:tr h="504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Colaboração em tempo real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Sim (menor destaque)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Fácil e rápido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3198375"/>
                  </a:ext>
                </a:extLst>
              </a:tr>
              <a:tr h="88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Animações/Design avançado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422338"/>
                  </a:ext>
                </a:extLst>
              </a:tr>
              <a:tr h="504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Funciona offline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Sim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Com Drive offline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698827"/>
                  </a:ext>
                </a:extLst>
              </a:tr>
              <a:tr h="504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Salvar/armazenar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PC ou OneDrive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Google Drive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359563"/>
                  </a:ext>
                </a:extLst>
              </a:tr>
              <a:tr h="88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Melhor para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Apresentações elaboradas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Apresentações simples e colaborativas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639654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87539972-5A22-7870-ECD7-95D168D27060}"/>
              </a:ext>
            </a:extLst>
          </p:cNvPr>
          <p:cNvSpPr txBox="1"/>
          <p:nvPr/>
        </p:nvSpPr>
        <p:spPr>
          <a:xfrm>
            <a:off x="781060" y="5648634"/>
            <a:ext cx="86620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/>
              <a:t>PowerPoint tem mais recursos criativos e efeitos;</a:t>
            </a:r>
          </a:p>
          <a:p>
            <a:r>
              <a:rPr lang="pt-BR" i="1" dirty="0"/>
              <a:t>Google Slides é mais simples e excelente para trabalho em equipe.</a:t>
            </a:r>
          </a:p>
        </p:txBody>
      </p:sp>
    </p:spTree>
    <p:extLst>
      <p:ext uri="{BB962C8B-B14F-4D97-AF65-F5344CB8AC3E}">
        <p14:creationId xmlns:p14="http://schemas.microsoft.com/office/powerpoint/2010/main" val="2161394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736E83-B509-EE88-13D7-D4078BCC2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PowerPoint / google slides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FDBA8E6E-AC10-FDAB-0E20-3A1B01F3E0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794" y="1935921"/>
            <a:ext cx="4257763" cy="355048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AE3F904-31CC-160E-406F-43D8B28E8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9795" y="1935922"/>
            <a:ext cx="4257762" cy="355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5724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64</TotalTime>
  <Words>788</Words>
  <Application>Microsoft Office PowerPoint</Application>
  <PresentationFormat>Widescreen</PresentationFormat>
  <Paragraphs>150</Paragraphs>
  <Slides>15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Arial</vt:lpstr>
      <vt:lpstr>Bookman Old Style</vt:lpstr>
      <vt:lpstr>Calibri</vt:lpstr>
      <vt:lpstr>Rockwell</vt:lpstr>
      <vt:lpstr>Damask</vt:lpstr>
      <vt:lpstr>Sistemas Operacionais e Aplicativos de Escritório</vt:lpstr>
      <vt:lpstr>unix</vt:lpstr>
      <vt:lpstr>MS-dos</vt:lpstr>
      <vt:lpstr>Windows</vt:lpstr>
      <vt:lpstr>Linux</vt:lpstr>
      <vt:lpstr>Mac-os</vt:lpstr>
      <vt:lpstr>ios</vt:lpstr>
      <vt:lpstr>android</vt:lpstr>
      <vt:lpstr>Aplicativos de escritórios</vt:lpstr>
      <vt:lpstr>Processadores de texto</vt:lpstr>
      <vt:lpstr>microsoft Word / google docs</vt:lpstr>
      <vt:lpstr>Planilhas Eletrônicas</vt:lpstr>
      <vt:lpstr>Microsoft excel / google planilhas</vt:lpstr>
      <vt:lpstr>Apresentações gráficas</vt:lpstr>
      <vt:lpstr>PowerPoint / google slides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Ananias Alves</dc:creator>
  <cp:lastModifiedBy>Miguel Ananias Alves</cp:lastModifiedBy>
  <cp:revision>2</cp:revision>
  <dcterms:created xsi:type="dcterms:W3CDTF">2026-02-23T20:37:31Z</dcterms:created>
  <dcterms:modified xsi:type="dcterms:W3CDTF">2026-03-02T19:42:06Z</dcterms:modified>
</cp:coreProperties>
</file>